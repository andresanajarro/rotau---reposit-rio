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DM Sans Bold" charset="0"/>
      <p:bold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old" panose="00000800000000000000" charset="0"/>
      <p:bold r:id="rId24"/>
    </p:embeddedFont>
    <p:embeddedFont>
      <p:font typeface="Montserrat Ultra-Bold" panose="020B0604020202020204" charset="0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329D3C-9F91-477A-B6FA-00AAC2A79D4E}" v="213" dt="2026-09-11T19:23:12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2" d="100"/>
          <a:sy n="52" d="100"/>
        </p:scale>
        <p:origin x="850" y="62"/>
      </p:cViewPr>
      <p:guideLst>
        <p:guide orient="horz" pos="2160"/>
        <p:guide pos="28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6.svg"/><Relationship Id="rId7" Type="http://schemas.openxmlformats.org/officeDocument/2006/relationships/image" Target="../media/image17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rot="5400000">
            <a:off x="-958599" y="-1382949"/>
            <a:ext cx="4234775" cy="2317577"/>
          </a:xfrm>
          <a:custGeom>
            <a:avLst/>
            <a:gdLst/>
            <a:ahLst/>
            <a:cxnLst/>
            <a:rect l="l" t="t" r="r" b="b"/>
            <a:pathLst>
              <a:path w="4234775" h="2317577">
                <a:moveTo>
                  <a:pt x="0" y="0"/>
                </a:moveTo>
                <a:lnTo>
                  <a:pt x="4234775" y="0"/>
                </a:lnTo>
                <a:lnTo>
                  <a:pt x="4234775" y="2317577"/>
                </a:lnTo>
                <a:lnTo>
                  <a:pt x="0" y="2317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3961319" y="9134881"/>
            <a:ext cx="4155237" cy="2274048"/>
          </a:xfrm>
          <a:custGeom>
            <a:avLst/>
            <a:gdLst/>
            <a:ahLst/>
            <a:cxnLst/>
            <a:rect l="l" t="t" r="r" b="b"/>
            <a:pathLst>
              <a:path w="4155237" h="2274048">
                <a:moveTo>
                  <a:pt x="0" y="0"/>
                </a:moveTo>
                <a:lnTo>
                  <a:pt x="4155236" y="0"/>
                </a:lnTo>
                <a:lnTo>
                  <a:pt x="4155236" y="2274048"/>
                </a:lnTo>
                <a:lnTo>
                  <a:pt x="0" y="227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 rot="5400000">
            <a:off x="5837462" y="198286"/>
            <a:ext cx="1195704" cy="3389882"/>
          </a:xfrm>
          <a:custGeom>
            <a:avLst/>
            <a:gdLst/>
            <a:ahLst/>
            <a:cxnLst/>
            <a:rect l="l" t="t" r="r" b="b"/>
            <a:pathLst>
              <a:path w="1195704" h="3389882">
                <a:moveTo>
                  <a:pt x="0" y="0"/>
                </a:moveTo>
                <a:lnTo>
                  <a:pt x="1195704" y="0"/>
                </a:lnTo>
                <a:lnTo>
                  <a:pt x="1195704" y="3389882"/>
                </a:lnTo>
                <a:lnTo>
                  <a:pt x="0" y="3389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1351693" y="3388647"/>
            <a:ext cx="6870299" cy="2083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9675" spc="-638">
                <a:solidFill>
                  <a:srgbClr val="FFFFFF"/>
                </a:solidFill>
                <a:latin typeface="Montserrat Ultra-Bold" panose="00000900000000000000"/>
                <a:ea typeface="Montserrat Ultra-Bold" panose="00000900000000000000"/>
                <a:cs typeface="Montserrat Ultra-Bold" panose="00000900000000000000"/>
                <a:sym typeface="Montserrat Ultra-Bold" panose="00000900000000000000"/>
              </a:rPr>
              <a:t>STARTUP</a:t>
            </a:r>
          </a:p>
          <a:p>
            <a:pPr algn="l">
              <a:lnSpc>
                <a:spcPts val="7840"/>
              </a:lnSpc>
            </a:pPr>
            <a:r>
              <a:rPr lang="en-US" sz="9675" spc="-638">
                <a:solidFill>
                  <a:srgbClr val="FFFFFF"/>
                </a:solidFill>
                <a:latin typeface="Montserrat Ultra-Bold" panose="00000900000000000000"/>
                <a:ea typeface="Montserrat Ultra-Bold" panose="00000900000000000000"/>
                <a:cs typeface="Montserrat Ultra-Bold" panose="00000900000000000000"/>
                <a:sym typeface="Montserrat Ultra-Bold" panose="00000900000000000000"/>
              </a:rPr>
              <a:t>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1693" y="5487095"/>
            <a:ext cx="5188672" cy="1102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5"/>
              </a:lnSpc>
            </a:pPr>
            <a:r>
              <a:rPr lang="en-US" sz="3780" spc="-128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Desenvolvimento de Projeto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87323" y="7137343"/>
            <a:ext cx="4947991" cy="439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3100">
                <a:solidFill>
                  <a:srgbClr val="1F69F6"/>
                </a:solidFill>
                <a:latin typeface="Montserrat Ultra-Bold" panose="00000900000000000000"/>
                <a:ea typeface="Montserrat Ultra-Bold" panose="00000900000000000000"/>
                <a:cs typeface="Montserrat Ultra-Bold" panose="00000900000000000000"/>
                <a:sym typeface="Montserrat Ultra-Bold" panose="00000900000000000000"/>
              </a:rPr>
              <a:t>PRIMEIRA ENTREGA</a:t>
            </a:r>
          </a:p>
        </p:txBody>
      </p:sp>
      <p:sp>
        <p:nvSpPr>
          <p:cNvPr id="9" name="Freeform 9"/>
          <p:cNvSpPr/>
          <p:nvPr/>
        </p:nvSpPr>
        <p:spPr>
          <a:xfrm>
            <a:off x="9285664" y="1599980"/>
            <a:ext cx="6201357" cy="7221376"/>
          </a:xfrm>
          <a:custGeom>
            <a:avLst/>
            <a:gdLst/>
            <a:ahLst/>
            <a:cxnLst/>
            <a:rect l="l" t="t" r="r" b="b"/>
            <a:pathLst>
              <a:path w="6201357" h="7221376">
                <a:moveTo>
                  <a:pt x="0" y="0"/>
                </a:moveTo>
                <a:lnTo>
                  <a:pt x="6201357" y="0"/>
                </a:lnTo>
                <a:lnTo>
                  <a:pt x="6201357" y="7221376"/>
                </a:lnTo>
                <a:lnTo>
                  <a:pt x="0" y="72213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10"/>
          <p:cNvSpPr txBox="1"/>
          <p:nvPr/>
        </p:nvSpPr>
        <p:spPr>
          <a:xfrm>
            <a:off x="8876347" y="7654665"/>
            <a:ext cx="9234483" cy="375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20"/>
              </a:lnSpc>
            </a:pPr>
            <a:r>
              <a:rPr lang="en-US" sz="32615" spc="-2152">
                <a:solidFill>
                  <a:srgbClr val="FFFFFF"/>
                </a:solidFill>
                <a:latin typeface="Montserrat Ultra-Bold" panose="00000900000000000000"/>
                <a:ea typeface="Montserrat Ultra-Bold" panose="00000900000000000000"/>
                <a:cs typeface="Montserrat Ultra-Bold" panose="00000900000000000000"/>
                <a:sym typeface="Montserrat Ultra-Bold" panose="00000900000000000000"/>
              </a:rPr>
              <a:t>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A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492606" cy="10402091"/>
          </a:xfrm>
          <a:custGeom>
            <a:avLst/>
            <a:gdLst/>
            <a:ahLst/>
            <a:cxnLst/>
            <a:rect l="l" t="t" r="r" b="b"/>
            <a:pathLst>
              <a:path w="18492606" h="10402091">
                <a:moveTo>
                  <a:pt x="0" y="0"/>
                </a:moveTo>
                <a:lnTo>
                  <a:pt x="18492606" y="0"/>
                </a:lnTo>
                <a:lnTo>
                  <a:pt x="18492606" y="10402091"/>
                </a:lnTo>
                <a:lnTo>
                  <a:pt x="0" y="10402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 descr="Abstract Minimalist Dots Shapes"/>
          <p:cNvSpPr/>
          <p:nvPr/>
        </p:nvSpPr>
        <p:spPr>
          <a:xfrm rot="5400000">
            <a:off x="-801996" y="-1866468"/>
            <a:ext cx="4307057" cy="2357135"/>
          </a:xfrm>
          <a:custGeom>
            <a:avLst/>
            <a:gdLst/>
            <a:ahLst/>
            <a:cxnLst/>
            <a:rect l="l" t="t" r="r" b="b"/>
            <a:pathLst>
              <a:path w="4307057" h="2357135">
                <a:moveTo>
                  <a:pt x="0" y="0"/>
                </a:moveTo>
                <a:lnTo>
                  <a:pt x="4307057" y="0"/>
                </a:lnTo>
                <a:lnTo>
                  <a:pt x="4307057" y="2357135"/>
                </a:lnTo>
                <a:lnTo>
                  <a:pt x="0" y="2357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 descr="Abstract Minimalist Lined Arrow Shapes"/>
          <p:cNvSpPr/>
          <p:nvPr/>
        </p:nvSpPr>
        <p:spPr>
          <a:xfrm rot="5400000">
            <a:off x="1115892" y="4376900"/>
            <a:ext cx="835508" cy="2368709"/>
          </a:xfrm>
          <a:custGeom>
            <a:avLst/>
            <a:gdLst/>
            <a:ahLst/>
            <a:cxnLst/>
            <a:rect l="l" t="t" r="r" b="b"/>
            <a:pathLst>
              <a:path w="835508" h="2368709">
                <a:moveTo>
                  <a:pt x="0" y="0"/>
                </a:moveTo>
                <a:lnTo>
                  <a:pt x="835509" y="0"/>
                </a:lnTo>
                <a:lnTo>
                  <a:pt x="835509" y="2368709"/>
                </a:lnTo>
                <a:lnTo>
                  <a:pt x="0" y="2368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AutoShape 5"/>
          <p:cNvSpPr/>
          <p:nvPr/>
        </p:nvSpPr>
        <p:spPr>
          <a:xfrm>
            <a:off x="10652193" y="0"/>
            <a:ext cx="7635807" cy="10287000"/>
          </a:xfrm>
          <a:prstGeom prst="rect">
            <a:avLst/>
          </a:prstGeom>
          <a:solidFill>
            <a:srgbClr val="CDB63A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1028700" y="1398953"/>
            <a:ext cx="8641321" cy="1156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60"/>
              </a:lnSpc>
            </a:pPr>
            <a:r>
              <a:rPr lang="en-US" sz="7200" spc="-475">
                <a:solidFill>
                  <a:srgbClr val="0B5CF4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Agenda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447586" y="0"/>
            <a:ext cx="7840414" cy="10072790"/>
            <a:chOff x="0" y="0"/>
            <a:chExt cx="10453885" cy="13430386"/>
          </a:xfrm>
        </p:grpSpPr>
        <p:sp>
          <p:nvSpPr>
            <p:cNvPr id="8" name="AutoShape 8"/>
            <p:cNvSpPr/>
            <p:nvPr/>
          </p:nvSpPr>
          <p:spPr>
            <a:xfrm>
              <a:off x="0" y="0"/>
              <a:ext cx="1893520" cy="223120"/>
            </a:xfrm>
            <a:prstGeom prst="rect">
              <a:avLst/>
            </a:prstGeom>
            <a:solidFill>
              <a:srgbClr val="FFDE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92167"/>
              <a:ext cx="10453885" cy="12838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42595" lvl="1" indent="-220980" algn="l">
                <a:lnSpc>
                  <a:spcPts val="5125"/>
                </a:lnSpc>
                <a:buFont typeface="Arial" panose="020B0604020202020204"/>
                <a:buChar char="•"/>
              </a:pPr>
              <a:r>
                <a:rPr lang="en-US" sz="2050">
                  <a:solidFill>
                    <a:srgbClr val="213332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Documentação Completa do Projeto</a:t>
              </a:r>
            </a:p>
            <a:p>
              <a:pPr marL="777240" lvl="2" indent="-259080" algn="l">
                <a:lnSpc>
                  <a:spcPts val="4500"/>
                </a:lnSpc>
                <a:buFont typeface="Arial" panose="020B0604020202020204"/>
                <a:buChar char="⚬"/>
              </a:pPr>
              <a:r>
                <a:rPr lang="en-US" sz="1800">
                  <a:solidFill>
                    <a:srgbClr val="213332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Introdução, Objetivos, Justificativas, Cronograma</a:t>
              </a:r>
            </a:p>
            <a:p>
              <a:pPr marL="442595" lvl="1" indent="-220980" algn="l">
                <a:lnSpc>
                  <a:spcPts val="5125"/>
                </a:lnSpc>
                <a:buFont typeface="Arial" panose="020B0604020202020204"/>
                <a:buChar char="•"/>
              </a:pPr>
              <a:r>
                <a:rPr lang="en-US" sz="2050">
                  <a:solidFill>
                    <a:srgbClr val="213332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Persona - Desenvolvimento do Cliente Ideal</a:t>
              </a:r>
            </a:p>
            <a:p>
              <a:pPr marL="777240" lvl="2" indent="-259080" algn="l">
                <a:lnSpc>
                  <a:spcPts val="4500"/>
                </a:lnSpc>
                <a:buFont typeface="Arial" panose="020B0604020202020204"/>
                <a:buChar char="⚬"/>
              </a:pPr>
              <a:r>
                <a:rPr lang="en-US" sz="1800">
                  <a:solidFill>
                    <a:srgbClr val="213332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Criação do perfil do cliente ideal</a:t>
              </a:r>
            </a:p>
            <a:p>
              <a:pPr marL="442595" lvl="1" indent="-220980" algn="l">
                <a:lnSpc>
                  <a:spcPts val="5125"/>
                </a:lnSpc>
                <a:buFont typeface="Arial" panose="020B0604020202020204"/>
                <a:buChar char="•"/>
              </a:pPr>
              <a:r>
                <a:rPr lang="en-US" sz="2050">
                  <a:solidFill>
                    <a:srgbClr val="213332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Formação dos Grupos de Trabalho</a:t>
              </a:r>
            </a:p>
            <a:p>
              <a:pPr marL="777240" lvl="2" indent="-259080" algn="l">
                <a:lnSpc>
                  <a:spcPts val="4500"/>
                </a:lnSpc>
                <a:buFont typeface="Arial" panose="020B0604020202020204"/>
                <a:buChar char="⚬"/>
              </a:pPr>
              <a:r>
                <a:rPr lang="en-US" sz="1800">
                  <a:solidFill>
                    <a:srgbClr val="213332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Apresentação da composição dos grupos</a:t>
              </a:r>
            </a:p>
            <a:p>
              <a:pPr marL="442595" lvl="1" indent="-220980" algn="l">
                <a:lnSpc>
                  <a:spcPts val="5125"/>
                </a:lnSpc>
                <a:buFont typeface="Arial" panose="020B0604020202020204"/>
                <a:buChar char="•"/>
              </a:pPr>
              <a:r>
                <a:rPr lang="en-US" sz="2050">
                  <a:solidFill>
                    <a:srgbClr val="213332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Trello - Acompanhamento do Projeto</a:t>
              </a:r>
            </a:p>
            <a:p>
              <a:pPr marL="777240" lvl="2" indent="-259080" algn="l">
                <a:lnSpc>
                  <a:spcPts val="4500"/>
                </a:lnSpc>
                <a:buFont typeface="Arial" panose="020B0604020202020204"/>
                <a:buChar char="⚬"/>
              </a:pPr>
              <a:r>
                <a:rPr lang="en-US" sz="1800">
                  <a:solidFill>
                    <a:srgbClr val="213332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Criação e organização do Trello para divisão das tarefas</a:t>
              </a:r>
            </a:p>
            <a:p>
              <a:pPr marL="442595" lvl="1" indent="-220980" algn="l">
                <a:lnSpc>
                  <a:spcPts val="5125"/>
                </a:lnSpc>
                <a:buFont typeface="Arial" panose="020B0604020202020204"/>
                <a:buChar char="•"/>
              </a:pPr>
              <a:r>
                <a:rPr lang="en-US" sz="2050">
                  <a:solidFill>
                    <a:srgbClr val="213332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Distribuição de Papéis no Grupo</a:t>
              </a:r>
            </a:p>
            <a:p>
              <a:pPr marL="777240" lvl="2" indent="-259080" algn="l">
                <a:lnSpc>
                  <a:spcPts val="4500"/>
                </a:lnSpc>
                <a:buFont typeface="Arial" panose="020B0604020202020204"/>
                <a:buChar char="⚬"/>
              </a:pPr>
              <a:r>
                <a:rPr lang="en-US" sz="1800">
                  <a:solidFill>
                    <a:srgbClr val="213332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Definição clara dos papéis e responsabilidades</a:t>
              </a:r>
            </a:p>
            <a:p>
              <a:pPr marL="442595" lvl="1" indent="-220980" algn="l">
                <a:lnSpc>
                  <a:spcPts val="5125"/>
                </a:lnSpc>
                <a:buFont typeface="Arial" panose="020B0604020202020204"/>
                <a:buChar char="•"/>
              </a:pPr>
              <a:r>
                <a:rPr lang="en-US" sz="2050">
                  <a:solidFill>
                    <a:srgbClr val="213332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Canvas de Proposta de Valor</a:t>
              </a:r>
            </a:p>
            <a:p>
              <a:pPr marL="777240" lvl="2" indent="-259080" algn="l">
                <a:lnSpc>
                  <a:spcPts val="4500"/>
                </a:lnSpc>
                <a:buFont typeface="Arial" panose="020B0604020202020204"/>
                <a:buChar char="⚬"/>
              </a:pPr>
              <a:r>
                <a:rPr lang="en-US" sz="1800">
                  <a:solidFill>
                    <a:srgbClr val="213332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Desenvolvimento do Canvas de Proposta de Valor</a:t>
              </a:r>
            </a:p>
            <a:p>
              <a:pPr marL="442595" lvl="1" indent="-220980" algn="l">
                <a:lnSpc>
                  <a:spcPts val="5125"/>
                </a:lnSpc>
                <a:buFont typeface="Arial" panose="020B0604020202020204"/>
                <a:buChar char="•"/>
              </a:pPr>
              <a:r>
                <a:rPr lang="en-US" sz="2050">
                  <a:solidFill>
                    <a:srgbClr val="213332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Lean Canvas - Modelo de Negócio</a:t>
              </a:r>
            </a:p>
            <a:p>
              <a:pPr marL="777240" lvl="2" indent="-259080" algn="l">
                <a:lnSpc>
                  <a:spcPts val="4500"/>
                </a:lnSpc>
                <a:buFont typeface="Arial" panose="020B0604020202020204"/>
                <a:buChar char="⚬"/>
              </a:pPr>
              <a:r>
                <a:rPr lang="en-US" sz="1800">
                  <a:solidFill>
                    <a:srgbClr val="213332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Criação do Lean Canvas focado em inovação e eficácia</a:t>
              </a:r>
            </a:p>
            <a:p>
              <a:pPr marL="442595" lvl="1" indent="-220980" algn="l">
                <a:lnSpc>
                  <a:spcPts val="5125"/>
                </a:lnSpc>
                <a:buFont typeface="Arial" panose="020B0604020202020204"/>
                <a:buChar char="•"/>
              </a:pPr>
              <a:r>
                <a:rPr lang="en-US" sz="2050">
                  <a:solidFill>
                    <a:srgbClr val="213332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Cronograma do Projeto</a:t>
              </a:r>
            </a:p>
            <a:p>
              <a:pPr marL="777240" lvl="2" indent="-259080" algn="l">
                <a:lnSpc>
                  <a:spcPts val="4500"/>
                </a:lnSpc>
                <a:buFont typeface="Arial" panose="020B0604020202020204"/>
                <a:buChar char="⚬"/>
              </a:pPr>
              <a:r>
                <a:rPr lang="en-US" sz="1800">
                  <a:solidFill>
                    <a:srgbClr val="213332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Planejamento das etapas e prazos para execução do projeto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8289929"/>
            <a:ext cx="3378602" cy="968371"/>
            <a:chOff x="0" y="0"/>
            <a:chExt cx="4504802" cy="1291162"/>
          </a:xfrm>
        </p:grpSpPr>
        <p:sp>
          <p:nvSpPr>
            <p:cNvPr id="11" name="AutoShape 11"/>
            <p:cNvSpPr/>
            <p:nvPr/>
          </p:nvSpPr>
          <p:spPr>
            <a:xfrm rot="5400000">
              <a:off x="1610906" y="5447"/>
              <a:ext cx="1288438" cy="1282991"/>
            </a:xfrm>
            <a:prstGeom prst="rect">
              <a:avLst/>
            </a:prstGeom>
            <a:solidFill>
              <a:srgbClr val="FFFFFF">
                <a:alpha val="28627"/>
              </a:srgbClr>
            </a:solidFill>
          </p:spPr>
          <p:txBody>
            <a:bodyPr/>
            <a:lstStyle/>
            <a:p>
              <a:endParaRPr lang="pt-BR"/>
            </a:p>
          </p:txBody>
        </p:sp>
        <p:grpSp>
          <p:nvGrpSpPr>
            <p:cNvPr id="12" name="Group 12"/>
            <p:cNvGrpSpPr>
              <a:grpSpLocks noChangeAspect="1"/>
            </p:cNvGrpSpPr>
            <p:nvPr/>
          </p:nvGrpSpPr>
          <p:grpSpPr>
            <a:xfrm rot="5400000">
              <a:off x="0" y="0"/>
              <a:ext cx="1288438" cy="1288438"/>
              <a:chOff x="0" y="0"/>
              <a:chExt cx="1708150" cy="17081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708150" cy="1708150"/>
              </a:xfrm>
              <a:custGeom>
                <a:avLst/>
                <a:gdLst/>
                <a:ahLst/>
                <a:cxnLst/>
                <a:rect l="l" t="t" r="r" b="b"/>
                <a:pathLst>
                  <a:path w="1708150" h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CDB63A"/>
              </a:solid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3221811" y="5447"/>
              <a:ext cx="1282991" cy="1282991"/>
            </a:xfrm>
            <a:custGeom>
              <a:avLst/>
              <a:gdLst/>
              <a:ahLst/>
              <a:cxnLst/>
              <a:rect l="l" t="t" r="r" b="b"/>
              <a:pathLst>
                <a:path w="1282991" h="1282991">
                  <a:moveTo>
                    <a:pt x="0" y="0"/>
                  </a:moveTo>
                  <a:lnTo>
                    <a:pt x="1282991" y="0"/>
                  </a:lnTo>
                  <a:lnTo>
                    <a:pt x="1282991" y="1282991"/>
                  </a:lnTo>
                  <a:lnTo>
                    <a:pt x="0" y="1282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410" y="-1562130"/>
            <a:ext cx="18822820" cy="13411259"/>
          </a:xfrm>
          <a:custGeom>
            <a:avLst/>
            <a:gdLst/>
            <a:ahLst/>
            <a:cxnLst/>
            <a:rect l="l" t="t" r="r" b="b"/>
            <a:pathLst>
              <a:path w="18822820" h="13411259">
                <a:moveTo>
                  <a:pt x="0" y="0"/>
                </a:moveTo>
                <a:lnTo>
                  <a:pt x="18822820" y="0"/>
                </a:lnTo>
                <a:lnTo>
                  <a:pt x="18822820" y="13411260"/>
                </a:lnTo>
                <a:lnTo>
                  <a:pt x="0" y="13411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2195188" y="1997599"/>
            <a:ext cx="1744314" cy="185699"/>
            <a:chOff x="0" y="0"/>
            <a:chExt cx="459408" cy="489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9408" cy="48908"/>
            </a:xfrm>
            <a:custGeom>
              <a:avLst/>
              <a:gdLst/>
              <a:ahLst/>
              <a:cxnLst/>
              <a:rect l="l" t="t" r="r" b="b"/>
              <a:pathLst>
                <a:path w="459408" h="48908">
                  <a:moveTo>
                    <a:pt x="0" y="0"/>
                  </a:moveTo>
                  <a:lnTo>
                    <a:pt x="459408" y="0"/>
                  </a:lnTo>
                  <a:lnTo>
                    <a:pt x="459408" y="48908"/>
                  </a:lnTo>
                  <a:lnTo>
                    <a:pt x="0" y="48908"/>
                  </a:lnTo>
                  <a:close/>
                </a:path>
              </a:pathLst>
            </a:custGeom>
            <a:solidFill>
              <a:srgbClr val="0B5CF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459408" cy="10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5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01597" y="595039"/>
            <a:ext cx="14441734" cy="973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940" spc="-457">
                <a:solidFill>
                  <a:srgbClr val="0B5CF4"/>
                </a:solidFill>
                <a:latin typeface="Montserrat Ultra-Bold" panose="00000900000000000000"/>
                <a:ea typeface="Montserrat Ultra-Bold" panose="00000900000000000000"/>
                <a:cs typeface="Montserrat Ultra-Bold" panose="00000900000000000000"/>
                <a:sym typeface="Montserrat Ultra-Bold" panose="00000900000000000000"/>
              </a:rPr>
              <a:t>Documentação Inicial do Projeto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3953" y="3220463"/>
            <a:ext cx="15920094" cy="457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20"/>
              </a:lnSpc>
            </a:pPr>
            <a:r>
              <a:rPr lang="en-US" sz="2400" dirty="0" err="1">
                <a:solidFill>
                  <a:srgbClr val="B8B8B8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Título</a:t>
            </a:r>
            <a:r>
              <a:rPr lang="en-US" sz="2400" dirty="0">
                <a:solidFill>
                  <a:srgbClr val="B8B8B8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:</a:t>
            </a:r>
            <a:r>
              <a:rPr lang="en-US" sz="2400" dirty="0">
                <a:solidFill>
                  <a:srgbClr val="B8B8B8"/>
                </a:solidFill>
                <a:latin typeface="Montserrat" panose="00000500000000000000"/>
                <a:ea typeface="Montserrat Bold" panose="00000800000000000000"/>
                <a:cs typeface="Montserrat Bold" panose="00000800000000000000"/>
                <a:sym typeface="Montserrat" panose="00000500000000000000"/>
              </a:rPr>
              <a:t> </a:t>
            </a:r>
            <a:r>
              <a:rPr lang="en-US" sz="2400" dirty="0" err="1">
                <a:solidFill>
                  <a:srgbClr val="B8B8B8"/>
                </a:solidFill>
                <a:latin typeface="Montserrat" panose="00000500000000000000"/>
                <a:ea typeface="Montserrat Bold" panose="00000800000000000000"/>
                <a:cs typeface="Montserrat Bold" panose="00000800000000000000"/>
                <a:sym typeface="Montserrat" panose="00000500000000000000"/>
              </a:rPr>
              <a:t>RotaU</a:t>
            </a:r>
            <a:endParaRPr lang="en-US" sz="2400" dirty="0" err="1">
              <a:solidFill>
                <a:srgbClr val="B8B8B8"/>
              </a:solidFill>
              <a:latin typeface="Montserrat" panose="00000500000000000000"/>
              <a:ea typeface="Montserrat" panose="00000500000000000000"/>
              <a:cs typeface="Montserrat" panose="00000500000000000000"/>
            </a:endParaRPr>
          </a:p>
          <a:p>
            <a:pPr marL="528320" lvl="1" indent="-264160">
              <a:lnSpc>
                <a:spcPts val="6120"/>
              </a:lnSpc>
              <a:buFont typeface="Arial" panose="020B0604020202020204"/>
              <a:buChar char="•"/>
            </a:pPr>
            <a:r>
              <a:rPr lang="en-US" sz="2400" dirty="0" err="1">
                <a:solidFill>
                  <a:srgbClr val="B8B8B8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Introdução</a:t>
            </a:r>
            <a:r>
              <a:rPr lang="en-US" sz="2400" dirty="0">
                <a:solidFill>
                  <a:srgbClr val="B8B8B8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: 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Atualmente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, a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contratação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de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transporte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universitário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privado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ocorre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de forma informal e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ineficiente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para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estudantes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e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motoristas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. Esse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cenário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de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baixa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mobilidade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impacta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diretamente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a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permanência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acadêmica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,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contribuindo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para a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evasão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no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ensino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superior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devido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a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problemas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como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longas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esperas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,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lotação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e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insegurança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. Para resolver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essa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lacuna, o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trabalho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apresenta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o </a:t>
            </a:r>
            <a:r>
              <a:rPr lang="en-US" sz="2400" b="1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RotaU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, um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aplicativo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que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centraliza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e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facilita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a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busca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,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comparação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e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contratação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de vans e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ônibus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particulares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para o 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trajeto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casa–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faculdade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/</a:t>
            </a:r>
            <a:r>
              <a:rPr 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faculdade</a:t>
            </a:r>
            <a:r>
              <a:rPr 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-casa.</a:t>
            </a:r>
            <a:endParaRPr lang="en-US" sz="2400" dirty="0">
              <a:solidFill>
                <a:srgbClr val="B8B8B8"/>
              </a:solidFill>
              <a:latin typeface="Montserrat" panose="00000500000000000000"/>
              <a:ea typeface="Montserrat" panose="00000500000000000000"/>
              <a:cs typeface="Montserrat" panose="00000500000000000000"/>
            </a:endParaRPr>
          </a:p>
        </p:txBody>
      </p:sp>
      <p:sp>
        <p:nvSpPr>
          <p:cNvPr id="8" name="Freeform 8"/>
          <p:cNvSpPr/>
          <p:nvPr/>
        </p:nvSpPr>
        <p:spPr>
          <a:xfrm rot="5400000">
            <a:off x="15206931" y="7205931"/>
            <a:ext cx="1606794" cy="4555344"/>
          </a:xfrm>
          <a:custGeom>
            <a:avLst/>
            <a:gdLst/>
            <a:ahLst/>
            <a:cxnLst/>
            <a:rect l="l" t="t" r="r" b="b"/>
            <a:pathLst>
              <a:path w="1606794" h="4555344">
                <a:moveTo>
                  <a:pt x="0" y="0"/>
                </a:moveTo>
                <a:lnTo>
                  <a:pt x="1606794" y="0"/>
                </a:lnTo>
                <a:lnTo>
                  <a:pt x="1606794" y="4555344"/>
                </a:lnTo>
                <a:lnTo>
                  <a:pt x="0" y="4555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410" y="-1562130"/>
            <a:ext cx="18822820" cy="13411259"/>
          </a:xfrm>
          <a:custGeom>
            <a:avLst/>
            <a:gdLst/>
            <a:ahLst/>
            <a:cxnLst/>
            <a:rect l="l" t="t" r="r" b="b"/>
            <a:pathLst>
              <a:path w="18822820" h="13411259">
                <a:moveTo>
                  <a:pt x="0" y="0"/>
                </a:moveTo>
                <a:lnTo>
                  <a:pt x="18822820" y="0"/>
                </a:lnTo>
                <a:lnTo>
                  <a:pt x="18822820" y="13411260"/>
                </a:lnTo>
                <a:lnTo>
                  <a:pt x="0" y="13411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2195188" y="1997599"/>
            <a:ext cx="1744314" cy="185699"/>
            <a:chOff x="0" y="0"/>
            <a:chExt cx="459408" cy="489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9408" cy="48908"/>
            </a:xfrm>
            <a:custGeom>
              <a:avLst/>
              <a:gdLst/>
              <a:ahLst/>
              <a:cxnLst/>
              <a:rect l="l" t="t" r="r" b="b"/>
              <a:pathLst>
                <a:path w="459408" h="48908">
                  <a:moveTo>
                    <a:pt x="0" y="0"/>
                  </a:moveTo>
                  <a:lnTo>
                    <a:pt x="459408" y="0"/>
                  </a:lnTo>
                  <a:lnTo>
                    <a:pt x="459408" y="48908"/>
                  </a:lnTo>
                  <a:lnTo>
                    <a:pt x="0" y="48908"/>
                  </a:lnTo>
                  <a:close/>
                </a:path>
              </a:pathLst>
            </a:custGeom>
            <a:solidFill>
              <a:srgbClr val="0B5CF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459408" cy="10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5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01597" y="595039"/>
            <a:ext cx="14441734" cy="973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940" spc="-457">
                <a:solidFill>
                  <a:srgbClr val="0B5CF4"/>
                </a:solidFill>
                <a:latin typeface="Montserrat Ultra-Bold" panose="00000900000000000000"/>
                <a:ea typeface="Montserrat Ultra-Bold" panose="00000900000000000000"/>
                <a:cs typeface="Montserrat Ultra-Bold" panose="00000900000000000000"/>
                <a:sym typeface="Montserrat Ultra-Bold" panose="00000900000000000000"/>
              </a:rPr>
              <a:t>Documentação Inicial do Projeto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3953" y="3220463"/>
            <a:ext cx="15920094" cy="301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0"/>
              </a:lnSpc>
            </a:pPr>
            <a:endParaRPr/>
          </a:p>
          <a:p>
            <a:pPr marL="528320" lvl="1" indent="-264160" algn="l">
              <a:lnSpc>
                <a:spcPts val="6120"/>
              </a:lnSpc>
              <a:buFont typeface="Arial" panose="020B0604020202020204"/>
              <a:buChar char="•"/>
            </a:pPr>
            <a:r>
              <a:rPr lang="en-US" sz="2445">
                <a:solidFill>
                  <a:srgbClr val="B8B8B8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Objetivos: </a:t>
            </a:r>
            <a:r>
              <a:rPr lang="pt-BR" altLang="en-US" sz="240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O</a:t>
            </a:r>
            <a:r>
              <a:rPr lang="en-US" altLang="pt-BR" sz="240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projeto tem como objetivo geral desenvolver uma plataforma digital integrativa que conecte estudantes e motoristas de transporte escolar, otimizando o planejamento de rotas, a capta</a:t>
            </a:r>
            <a:r>
              <a:rPr lang="" altLang="en-US" sz="240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ç</a:t>
            </a:r>
            <a:r>
              <a:rPr lang="en-US" altLang="en-US" sz="240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ã</a:t>
            </a:r>
            <a:r>
              <a:rPr lang="en-US" altLang="pt-BR" sz="240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o de clientes e o acompanhamento dos trajetos em tempo real para aumentar a seguran</a:t>
            </a:r>
            <a:r>
              <a:rPr lang="" altLang="en-US" sz="240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ç</a:t>
            </a:r>
            <a:r>
              <a:rPr lang="en-US" altLang="pt-BR" sz="240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a, a efici</a:t>
            </a:r>
            <a:r>
              <a:rPr lang="en-US" altLang="en-US" sz="240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ê</a:t>
            </a:r>
            <a:r>
              <a:rPr lang="en-US" altLang="pt-BR" sz="240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ncia e a previsibilidade do servi</a:t>
            </a:r>
            <a:r>
              <a:rPr lang="" altLang="en-US" sz="240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ç</a:t>
            </a:r>
            <a:r>
              <a:rPr lang="en-US" altLang="pt-BR" sz="240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o.</a:t>
            </a:r>
          </a:p>
        </p:txBody>
      </p:sp>
      <p:sp>
        <p:nvSpPr>
          <p:cNvPr id="8" name="Freeform 8"/>
          <p:cNvSpPr/>
          <p:nvPr/>
        </p:nvSpPr>
        <p:spPr>
          <a:xfrm rot="5400000">
            <a:off x="15206931" y="7205931"/>
            <a:ext cx="1606794" cy="4555344"/>
          </a:xfrm>
          <a:custGeom>
            <a:avLst/>
            <a:gdLst/>
            <a:ahLst/>
            <a:cxnLst/>
            <a:rect l="l" t="t" r="r" b="b"/>
            <a:pathLst>
              <a:path w="1606794" h="4555344">
                <a:moveTo>
                  <a:pt x="0" y="0"/>
                </a:moveTo>
                <a:lnTo>
                  <a:pt x="1606794" y="0"/>
                </a:lnTo>
                <a:lnTo>
                  <a:pt x="1606794" y="4555344"/>
                </a:lnTo>
                <a:lnTo>
                  <a:pt x="0" y="4555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4875" y="-1638330"/>
            <a:ext cx="18822820" cy="13411259"/>
          </a:xfrm>
          <a:custGeom>
            <a:avLst/>
            <a:gdLst/>
            <a:ahLst/>
            <a:cxnLst/>
            <a:rect l="l" t="t" r="r" b="b"/>
            <a:pathLst>
              <a:path w="18822820" h="13411259">
                <a:moveTo>
                  <a:pt x="0" y="0"/>
                </a:moveTo>
                <a:lnTo>
                  <a:pt x="18822820" y="0"/>
                </a:lnTo>
                <a:lnTo>
                  <a:pt x="18822820" y="13411260"/>
                </a:lnTo>
                <a:lnTo>
                  <a:pt x="0" y="13411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2195188" y="1997599"/>
            <a:ext cx="1744314" cy="185699"/>
            <a:chOff x="0" y="0"/>
            <a:chExt cx="459408" cy="489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9408" cy="48908"/>
            </a:xfrm>
            <a:custGeom>
              <a:avLst/>
              <a:gdLst/>
              <a:ahLst/>
              <a:cxnLst/>
              <a:rect l="l" t="t" r="r" b="b"/>
              <a:pathLst>
                <a:path w="459408" h="48908">
                  <a:moveTo>
                    <a:pt x="0" y="0"/>
                  </a:moveTo>
                  <a:lnTo>
                    <a:pt x="459408" y="0"/>
                  </a:lnTo>
                  <a:lnTo>
                    <a:pt x="459408" y="48908"/>
                  </a:lnTo>
                  <a:lnTo>
                    <a:pt x="0" y="48908"/>
                  </a:lnTo>
                  <a:close/>
                </a:path>
              </a:pathLst>
            </a:custGeom>
            <a:solidFill>
              <a:srgbClr val="0B5CF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459408" cy="10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5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01597" y="595039"/>
            <a:ext cx="14441734" cy="973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940" spc="-457">
                <a:solidFill>
                  <a:srgbClr val="0B5CF4"/>
                </a:solidFill>
                <a:latin typeface="Montserrat Ultra-Bold" panose="00000900000000000000"/>
                <a:ea typeface="Montserrat Ultra-Bold" panose="00000900000000000000"/>
                <a:cs typeface="Montserrat Ultra-Bold" panose="00000900000000000000"/>
                <a:sym typeface="Montserrat Ultra-Bold" panose="00000900000000000000"/>
              </a:rPr>
              <a:t>Documentação Inicial do Projeto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3953" y="3220463"/>
            <a:ext cx="15920094" cy="3797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0"/>
              </a:lnSpc>
            </a:pPr>
            <a:endParaRPr/>
          </a:p>
          <a:p>
            <a:pPr marL="528320" lvl="1" indent="-264160" algn="l">
              <a:lnSpc>
                <a:spcPts val="6120"/>
              </a:lnSpc>
              <a:buFont typeface="Arial" panose="020B0604020202020204"/>
              <a:buChar char="•"/>
            </a:pPr>
            <a:r>
              <a:rPr lang="en-US" sz="2400" dirty="0" err="1">
                <a:solidFill>
                  <a:srgbClr val="B8B8B8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Justificativas</a:t>
            </a:r>
            <a:r>
              <a:rPr lang="en-US" sz="2400" dirty="0">
                <a:solidFill>
                  <a:srgbClr val="B8B8B8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: </a:t>
            </a:r>
            <a:r>
              <a:rPr lang="pt-BR" alt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J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ustifica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-se pela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necessidade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de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modernizar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o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transporte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escolar, um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setor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essencial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que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ainda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opera de forma manual e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descentralizada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. A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proposta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resolve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dores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centrais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do mercado: a grande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dificuldade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que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alunos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enfrentam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para encontrar </a:t>
            </a:r>
            <a:r>
              <a:rPr lang="pt-BR" alt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transportes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dispon</a:t>
            </a:r>
            <a:r>
              <a:rPr lang="en-US" alt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í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veis</a:t>
            </a:r>
            <a:r>
              <a:rPr lang="pt-BR" altLang="en-US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,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aliada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à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falta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de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praticidade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para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os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motoristas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,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que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n</a:t>
            </a:r>
            <a:r>
              <a:rPr lang="en-US" alt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ã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o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possuem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um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meio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simples para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cadastrar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seus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ve</a:t>
            </a:r>
            <a:r>
              <a:rPr lang="en-US" altLang="en-US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í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culos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, ser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facilmente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encontrados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e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fechar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contratos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diretamente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com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os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 </a:t>
            </a:r>
            <a:r>
              <a:rPr lang="en-US" altLang="pt-BR" sz="2400" dirty="0" err="1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passageiros</a:t>
            </a:r>
            <a:r>
              <a:rPr lang="en-US" altLang="pt-BR" sz="2400" dirty="0">
                <a:solidFill>
                  <a:srgbClr val="B8B8B8"/>
                </a:solidFill>
                <a:ea typeface="+mn-lt"/>
                <a:cs typeface="+mn-lt"/>
                <a:sym typeface="Montserrat Bold" panose="00000800000000000000"/>
              </a:rPr>
              <a:t>.</a:t>
            </a:r>
            <a:endParaRPr lang="en-US" altLang="pt-BR" sz="2400" dirty="0">
              <a:solidFill>
                <a:srgbClr val="B8B8B8"/>
              </a:solidFill>
              <a:ea typeface="+mn-lt"/>
              <a:cs typeface="+mn-lt"/>
            </a:endParaRPr>
          </a:p>
        </p:txBody>
      </p:sp>
      <p:sp>
        <p:nvSpPr>
          <p:cNvPr id="8" name="Freeform 8"/>
          <p:cNvSpPr/>
          <p:nvPr/>
        </p:nvSpPr>
        <p:spPr>
          <a:xfrm rot="5400000">
            <a:off x="15206931" y="7205931"/>
            <a:ext cx="1606794" cy="4555344"/>
          </a:xfrm>
          <a:custGeom>
            <a:avLst/>
            <a:gdLst/>
            <a:ahLst/>
            <a:cxnLst/>
            <a:rect l="l" t="t" r="r" b="b"/>
            <a:pathLst>
              <a:path w="1606794" h="4555344">
                <a:moveTo>
                  <a:pt x="0" y="0"/>
                </a:moveTo>
                <a:lnTo>
                  <a:pt x="1606794" y="0"/>
                </a:lnTo>
                <a:lnTo>
                  <a:pt x="1606794" y="4555344"/>
                </a:lnTo>
                <a:lnTo>
                  <a:pt x="0" y="4555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" y="-876041"/>
            <a:ext cx="18446100" cy="12289714"/>
          </a:xfrm>
          <a:custGeom>
            <a:avLst/>
            <a:gdLst/>
            <a:ahLst/>
            <a:cxnLst/>
            <a:rect l="l" t="t" r="r" b="b"/>
            <a:pathLst>
              <a:path w="18446100" h="12289714">
                <a:moveTo>
                  <a:pt x="0" y="0"/>
                </a:moveTo>
                <a:lnTo>
                  <a:pt x="18446100" y="0"/>
                </a:lnTo>
                <a:lnTo>
                  <a:pt x="18446100" y="12289714"/>
                </a:lnTo>
                <a:lnTo>
                  <a:pt x="0" y="12289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2195188" y="1997599"/>
            <a:ext cx="1744314" cy="185699"/>
            <a:chOff x="0" y="0"/>
            <a:chExt cx="459408" cy="489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9408" cy="48908"/>
            </a:xfrm>
            <a:custGeom>
              <a:avLst/>
              <a:gdLst/>
              <a:ahLst/>
              <a:cxnLst/>
              <a:rect l="l" t="t" r="r" b="b"/>
              <a:pathLst>
                <a:path w="459408" h="48908">
                  <a:moveTo>
                    <a:pt x="0" y="0"/>
                  </a:moveTo>
                  <a:lnTo>
                    <a:pt x="459408" y="0"/>
                  </a:lnTo>
                  <a:lnTo>
                    <a:pt x="459408" y="48908"/>
                  </a:lnTo>
                  <a:lnTo>
                    <a:pt x="0" y="48908"/>
                  </a:lnTo>
                  <a:close/>
                </a:path>
              </a:pathLst>
            </a:custGeom>
            <a:solidFill>
              <a:srgbClr val="0B5CF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459408" cy="10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5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01597" y="595039"/>
            <a:ext cx="14441734" cy="973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940" spc="-457">
                <a:solidFill>
                  <a:srgbClr val="0B5CF4"/>
                </a:solidFill>
                <a:latin typeface="Montserrat Ultra-Bold" panose="00000900000000000000"/>
                <a:ea typeface="Montserrat Ultra-Bold" panose="00000900000000000000"/>
                <a:cs typeface="Montserrat Ultra-Bold" panose="00000900000000000000"/>
                <a:sym typeface="Montserrat Ultra-Bold" panose="00000900000000000000"/>
              </a:rPr>
              <a:t>Persona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245" y="1409700"/>
            <a:ext cx="15383510" cy="8693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" y="-876041"/>
            <a:ext cx="18446100" cy="12289714"/>
          </a:xfrm>
          <a:custGeom>
            <a:avLst/>
            <a:gdLst/>
            <a:ahLst/>
            <a:cxnLst/>
            <a:rect l="l" t="t" r="r" b="b"/>
            <a:pathLst>
              <a:path w="18446100" h="12289714">
                <a:moveTo>
                  <a:pt x="0" y="0"/>
                </a:moveTo>
                <a:lnTo>
                  <a:pt x="18446100" y="0"/>
                </a:lnTo>
                <a:lnTo>
                  <a:pt x="18446100" y="12289714"/>
                </a:lnTo>
                <a:lnTo>
                  <a:pt x="0" y="12289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2195188" y="1997599"/>
            <a:ext cx="1744314" cy="185699"/>
            <a:chOff x="0" y="0"/>
            <a:chExt cx="459408" cy="489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9408" cy="48908"/>
            </a:xfrm>
            <a:custGeom>
              <a:avLst/>
              <a:gdLst/>
              <a:ahLst/>
              <a:cxnLst/>
              <a:rect l="l" t="t" r="r" b="b"/>
              <a:pathLst>
                <a:path w="459408" h="48908">
                  <a:moveTo>
                    <a:pt x="0" y="0"/>
                  </a:moveTo>
                  <a:lnTo>
                    <a:pt x="459408" y="0"/>
                  </a:lnTo>
                  <a:lnTo>
                    <a:pt x="459408" y="48908"/>
                  </a:lnTo>
                  <a:lnTo>
                    <a:pt x="0" y="48908"/>
                  </a:lnTo>
                  <a:close/>
                </a:path>
              </a:pathLst>
            </a:custGeom>
            <a:solidFill>
              <a:srgbClr val="0B5CF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459408" cy="10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5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01597" y="595039"/>
            <a:ext cx="14441734" cy="973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940" spc="-457">
                <a:solidFill>
                  <a:srgbClr val="0B5CF4"/>
                </a:solidFill>
                <a:latin typeface="Montserrat Ultra-Bold" panose="00000900000000000000"/>
                <a:ea typeface="Montserrat Ultra-Bold" panose="00000900000000000000"/>
                <a:cs typeface="Montserrat Ultra-Bold" panose="00000900000000000000"/>
                <a:sym typeface="Montserrat Ultra-Bold" panose="00000900000000000000"/>
              </a:rPr>
              <a:t>Persona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490" y="1405255"/>
            <a:ext cx="15111095" cy="84829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A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5073358" y="8831350"/>
            <a:ext cx="4155237" cy="2274048"/>
          </a:xfrm>
          <a:custGeom>
            <a:avLst/>
            <a:gdLst/>
            <a:ahLst/>
            <a:cxnLst/>
            <a:rect l="l" t="t" r="r" b="b"/>
            <a:pathLst>
              <a:path w="4155237" h="2274048">
                <a:moveTo>
                  <a:pt x="0" y="0"/>
                </a:moveTo>
                <a:lnTo>
                  <a:pt x="4155236" y="0"/>
                </a:lnTo>
                <a:lnTo>
                  <a:pt x="4155236" y="2274048"/>
                </a:lnTo>
                <a:lnTo>
                  <a:pt x="0" y="227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408756" y="461168"/>
            <a:ext cx="17470489" cy="826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7260" spc="-479">
                <a:solidFill>
                  <a:srgbClr val="FFFFFF"/>
                </a:solidFill>
                <a:latin typeface="Montserrat Ultra-Bold" panose="00000900000000000000"/>
                <a:ea typeface="Montserrat Ultra-Bold" panose="00000900000000000000"/>
                <a:cs typeface="Montserrat Ultra-Bold" panose="00000900000000000000"/>
                <a:sym typeface="Montserrat Ultra-Bold" panose="00000900000000000000"/>
              </a:rPr>
              <a:t>Trello - Acompanhamento do Projeto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278862" y="3391738"/>
            <a:ext cx="3401797" cy="629691"/>
            <a:chOff x="0" y="0"/>
            <a:chExt cx="4535730" cy="83958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4535730" cy="839589"/>
              <a:chOff x="0" y="0"/>
              <a:chExt cx="4789004" cy="88647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0010" y="80010"/>
                <a:ext cx="4696294" cy="793761"/>
              </a:xfrm>
              <a:custGeom>
                <a:avLst/>
                <a:gdLst/>
                <a:ahLst/>
                <a:cxnLst/>
                <a:rect l="l" t="t" r="r" b="b"/>
                <a:pathLst>
                  <a:path w="4696294" h="793761">
                    <a:moveTo>
                      <a:pt x="0" y="739151"/>
                    </a:moveTo>
                    <a:lnTo>
                      <a:pt x="0" y="793761"/>
                    </a:lnTo>
                    <a:lnTo>
                      <a:pt x="4696294" y="793761"/>
                    </a:lnTo>
                    <a:lnTo>
                      <a:pt x="4696294" y="0"/>
                    </a:lnTo>
                    <a:lnTo>
                      <a:pt x="4641684" y="0"/>
                    </a:lnTo>
                    <a:lnTo>
                      <a:pt x="4641684" y="739151"/>
                    </a:lnTo>
                    <a:close/>
                  </a:path>
                </a:pathLst>
              </a:custGeom>
              <a:solidFill>
                <a:srgbClr val="FFB001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67310" y="67310"/>
                <a:ext cx="4721694" cy="819161"/>
              </a:xfrm>
              <a:custGeom>
                <a:avLst/>
                <a:gdLst/>
                <a:ahLst/>
                <a:cxnLst/>
                <a:rect l="l" t="t" r="r" b="b"/>
                <a:pathLst>
                  <a:path w="4721694" h="819161">
                    <a:moveTo>
                      <a:pt x="4654384" y="0"/>
                    </a:moveTo>
                    <a:lnTo>
                      <a:pt x="4654384" y="12700"/>
                    </a:lnTo>
                    <a:lnTo>
                      <a:pt x="4708994" y="12700"/>
                    </a:lnTo>
                    <a:lnTo>
                      <a:pt x="4708994" y="806461"/>
                    </a:lnTo>
                    <a:lnTo>
                      <a:pt x="12700" y="806461"/>
                    </a:lnTo>
                    <a:lnTo>
                      <a:pt x="12700" y="751851"/>
                    </a:lnTo>
                    <a:lnTo>
                      <a:pt x="0" y="751851"/>
                    </a:lnTo>
                    <a:lnTo>
                      <a:pt x="0" y="819161"/>
                    </a:lnTo>
                    <a:lnTo>
                      <a:pt x="4721694" y="819161"/>
                    </a:lnTo>
                    <a:lnTo>
                      <a:pt x="472169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4696294" cy="793761"/>
              </a:xfrm>
              <a:custGeom>
                <a:avLst/>
                <a:gdLst/>
                <a:ahLst/>
                <a:cxnLst/>
                <a:rect l="l" t="t" r="r" b="b"/>
                <a:pathLst>
                  <a:path w="4696294" h="793761">
                    <a:moveTo>
                      <a:pt x="0" y="0"/>
                    </a:moveTo>
                    <a:lnTo>
                      <a:pt x="4696294" y="0"/>
                    </a:lnTo>
                    <a:lnTo>
                      <a:pt x="4696294" y="793761"/>
                    </a:lnTo>
                    <a:lnTo>
                      <a:pt x="0" y="7937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4721694" cy="819161"/>
              </a:xfrm>
              <a:custGeom>
                <a:avLst/>
                <a:gdLst/>
                <a:ahLst/>
                <a:cxnLst/>
                <a:rect l="l" t="t" r="r" b="b"/>
                <a:pathLst>
                  <a:path w="4721694" h="819161">
                    <a:moveTo>
                      <a:pt x="80010" y="819161"/>
                    </a:moveTo>
                    <a:lnTo>
                      <a:pt x="4721694" y="819161"/>
                    </a:lnTo>
                    <a:lnTo>
                      <a:pt x="4721694" y="80010"/>
                    </a:lnTo>
                    <a:lnTo>
                      <a:pt x="4721694" y="67310"/>
                    </a:lnTo>
                    <a:lnTo>
                      <a:pt x="4721694" y="0"/>
                    </a:lnTo>
                    <a:lnTo>
                      <a:pt x="0" y="0"/>
                    </a:lnTo>
                    <a:lnTo>
                      <a:pt x="0" y="819161"/>
                    </a:lnTo>
                    <a:lnTo>
                      <a:pt x="67310" y="819161"/>
                    </a:lnTo>
                    <a:lnTo>
                      <a:pt x="80010" y="819161"/>
                    </a:lnTo>
                    <a:close/>
                    <a:moveTo>
                      <a:pt x="12700" y="12700"/>
                    </a:moveTo>
                    <a:lnTo>
                      <a:pt x="4708994" y="12700"/>
                    </a:lnTo>
                    <a:lnTo>
                      <a:pt x="4708994" y="806461"/>
                    </a:lnTo>
                    <a:lnTo>
                      <a:pt x="12700" y="806461"/>
                    </a:lnTo>
                    <a:lnTo>
                      <a:pt x="12700" y="12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088103" y="203907"/>
              <a:ext cx="2559640" cy="4147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50"/>
                </a:lnSpc>
              </a:pPr>
              <a:r>
                <a:rPr lang="en-US" sz="2040" spc="-6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 PROGRESSO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6413" y="203907"/>
              <a:ext cx="303372" cy="4004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25"/>
                </a:lnSpc>
              </a:pPr>
              <a:r>
                <a:rPr lang="en-US" sz="2020" spc="-6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 rot="-5400000">
              <a:off x="541577" y="296006"/>
              <a:ext cx="430398" cy="216265"/>
              <a:chOff x="0" y="0"/>
              <a:chExt cx="1137367" cy="5715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255270"/>
                <a:ext cx="1137367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137367" h="69850">
                    <a:moveTo>
                      <a:pt x="846537" y="0"/>
                    </a:moveTo>
                    <a:lnTo>
                      <a:pt x="0" y="0"/>
                    </a:lnTo>
                    <a:lnTo>
                      <a:pt x="0" y="69850"/>
                    </a:lnTo>
                    <a:lnTo>
                      <a:pt x="1137367" y="69850"/>
                    </a:lnTo>
                    <a:lnTo>
                      <a:pt x="1137367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3733081" y="286211"/>
              <a:ext cx="442818" cy="235857"/>
              <a:chOff x="0" y="0"/>
              <a:chExt cx="805931" cy="42926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-5080"/>
                <a:ext cx="805931" cy="434340"/>
              </a:xfrm>
              <a:custGeom>
                <a:avLst/>
                <a:gdLst/>
                <a:ahLst/>
                <a:cxnLst/>
                <a:rect l="l" t="t" r="r" b="b"/>
                <a:pathLst>
                  <a:path w="805931" h="434340">
                    <a:moveTo>
                      <a:pt x="788152" y="187960"/>
                    </a:moveTo>
                    <a:lnTo>
                      <a:pt x="526531" y="11430"/>
                    </a:lnTo>
                    <a:cubicBezTo>
                      <a:pt x="508752" y="0"/>
                      <a:pt x="485891" y="3810"/>
                      <a:pt x="473191" y="21590"/>
                    </a:cubicBezTo>
                    <a:cubicBezTo>
                      <a:pt x="461761" y="39370"/>
                      <a:pt x="465572" y="62230"/>
                      <a:pt x="483352" y="74930"/>
                    </a:cubicBezTo>
                    <a:lnTo>
                      <a:pt x="642102" y="181610"/>
                    </a:lnTo>
                    <a:lnTo>
                      <a:pt x="0" y="181610"/>
                    </a:lnTo>
                    <a:lnTo>
                      <a:pt x="0" y="257810"/>
                    </a:lnTo>
                    <a:lnTo>
                      <a:pt x="642102" y="257810"/>
                    </a:lnTo>
                    <a:lnTo>
                      <a:pt x="483352" y="364490"/>
                    </a:lnTo>
                    <a:cubicBezTo>
                      <a:pt x="465572" y="375920"/>
                      <a:pt x="461761" y="400050"/>
                      <a:pt x="473192" y="417830"/>
                    </a:cubicBezTo>
                    <a:cubicBezTo>
                      <a:pt x="480811" y="429260"/>
                      <a:pt x="492242" y="434340"/>
                      <a:pt x="504942" y="434340"/>
                    </a:cubicBezTo>
                    <a:cubicBezTo>
                      <a:pt x="512561" y="434340"/>
                      <a:pt x="520181" y="431800"/>
                      <a:pt x="526531" y="427990"/>
                    </a:cubicBezTo>
                    <a:lnTo>
                      <a:pt x="789422" y="251460"/>
                    </a:lnTo>
                    <a:cubicBezTo>
                      <a:pt x="799581" y="243840"/>
                      <a:pt x="805931" y="232410"/>
                      <a:pt x="805931" y="219710"/>
                    </a:cubicBezTo>
                    <a:cubicBezTo>
                      <a:pt x="805931" y="207010"/>
                      <a:pt x="799581" y="195580"/>
                      <a:pt x="788152" y="18796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pt-BR"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8848450" y="3391738"/>
            <a:ext cx="3401797" cy="629691"/>
            <a:chOff x="0" y="0"/>
            <a:chExt cx="4535730" cy="839589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4535730" cy="839589"/>
              <a:chOff x="0" y="0"/>
              <a:chExt cx="4789004" cy="88647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0010" y="80010"/>
                <a:ext cx="4696294" cy="793761"/>
              </a:xfrm>
              <a:custGeom>
                <a:avLst/>
                <a:gdLst/>
                <a:ahLst/>
                <a:cxnLst/>
                <a:rect l="l" t="t" r="r" b="b"/>
                <a:pathLst>
                  <a:path w="4696294" h="793761">
                    <a:moveTo>
                      <a:pt x="0" y="739151"/>
                    </a:moveTo>
                    <a:lnTo>
                      <a:pt x="0" y="793761"/>
                    </a:lnTo>
                    <a:lnTo>
                      <a:pt x="4696294" y="793761"/>
                    </a:lnTo>
                    <a:lnTo>
                      <a:pt x="4696294" y="0"/>
                    </a:lnTo>
                    <a:lnTo>
                      <a:pt x="4641684" y="0"/>
                    </a:lnTo>
                    <a:lnTo>
                      <a:pt x="4641684" y="739151"/>
                    </a:lnTo>
                    <a:close/>
                  </a:path>
                </a:pathLst>
              </a:custGeom>
              <a:solidFill>
                <a:srgbClr val="541FC4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67310" y="67310"/>
                <a:ext cx="4721694" cy="819161"/>
              </a:xfrm>
              <a:custGeom>
                <a:avLst/>
                <a:gdLst/>
                <a:ahLst/>
                <a:cxnLst/>
                <a:rect l="l" t="t" r="r" b="b"/>
                <a:pathLst>
                  <a:path w="4721694" h="819161">
                    <a:moveTo>
                      <a:pt x="4654384" y="0"/>
                    </a:moveTo>
                    <a:lnTo>
                      <a:pt x="4654384" y="12700"/>
                    </a:lnTo>
                    <a:lnTo>
                      <a:pt x="4708994" y="12700"/>
                    </a:lnTo>
                    <a:lnTo>
                      <a:pt x="4708994" y="806461"/>
                    </a:lnTo>
                    <a:lnTo>
                      <a:pt x="12700" y="806461"/>
                    </a:lnTo>
                    <a:lnTo>
                      <a:pt x="12700" y="751851"/>
                    </a:lnTo>
                    <a:lnTo>
                      <a:pt x="0" y="751851"/>
                    </a:lnTo>
                    <a:lnTo>
                      <a:pt x="0" y="819161"/>
                    </a:lnTo>
                    <a:lnTo>
                      <a:pt x="4721694" y="819161"/>
                    </a:lnTo>
                    <a:lnTo>
                      <a:pt x="472169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2700" y="12700"/>
                <a:ext cx="4696294" cy="793761"/>
              </a:xfrm>
              <a:custGeom>
                <a:avLst/>
                <a:gdLst/>
                <a:ahLst/>
                <a:cxnLst/>
                <a:rect l="l" t="t" r="r" b="b"/>
                <a:pathLst>
                  <a:path w="4696294" h="793761">
                    <a:moveTo>
                      <a:pt x="0" y="0"/>
                    </a:moveTo>
                    <a:lnTo>
                      <a:pt x="4696294" y="0"/>
                    </a:lnTo>
                    <a:lnTo>
                      <a:pt x="4696294" y="793761"/>
                    </a:lnTo>
                    <a:lnTo>
                      <a:pt x="0" y="7937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0" y="0"/>
                <a:ext cx="4721694" cy="819161"/>
              </a:xfrm>
              <a:custGeom>
                <a:avLst/>
                <a:gdLst/>
                <a:ahLst/>
                <a:cxnLst/>
                <a:rect l="l" t="t" r="r" b="b"/>
                <a:pathLst>
                  <a:path w="4721694" h="819161">
                    <a:moveTo>
                      <a:pt x="80010" y="819161"/>
                    </a:moveTo>
                    <a:lnTo>
                      <a:pt x="4721694" y="819161"/>
                    </a:lnTo>
                    <a:lnTo>
                      <a:pt x="4721694" y="80010"/>
                    </a:lnTo>
                    <a:lnTo>
                      <a:pt x="4721694" y="67310"/>
                    </a:lnTo>
                    <a:lnTo>
                      <a:pt x="4721694" y="0"/>
                    </a:lnTo>
                    <a:lnTo>
                      <a:pt x="0" y="0"/>
                    </a:lnTo>
                    <a:lnTo>
                      <a:pt x="0" y="819161"/>
                    </a:lnTo>
                    <a:lnTo>
                      <a:pt x="67310" y="819161"/>
                    </a:lnTo>
                    <a:lnTo>
                      <a:pt x="80010" y="819161"/>
                    </a:lnTo>
                    <a:close/>
                    <a:moveTo>
                      <a:pt x="12700" y="12700"/>
                    </a:moveTo>
                    <a:lnTo>
                      <a:pt x="4708994" y="12700"/>
                    </a:lnTo>
                    <a:lnTo>
                      <a:pt x="4708994" y="806461"/>
                    </a:lnTo>
                    <a:lnTo>
                      <a:pt x="12700" y="806461"/>
                    </a:lnTo>
                    <a:lnTo>
                      <a:pt x="12700" y="12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088103" y="203907"/>
              <a:ext cx="2559640" cy="4147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50"/>
                </a:lnSpc>
              </a:pPr>
              <a:r>
                <a:rPr lang="en-US" sz="2040" spc="-6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PRONTO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6413" y="203907"/>
              <a:ext cx="303372" cy="4004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25"/>
                </a:lnSpc>
              </a:pPr>
              <a:r>
                <a:rPr lang="en-US" sz="2020" spc="-6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 rot="-5400000">
              <a:off x="541577" y="296006"/>
              <a:ext cx="430398" cy="216265"/>
              <a:chOff x="0" y="0"/>
              <a:chExt cx="1137367" cy="5715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255270"/>
                <a:ext cx="1137367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137367" h="69850">
                    <a:moveTo>
                      <a:pt x="846537" y="0"/>
                    </a:moveTo>
                    <a:lnTo>
                      <a:pt x="0" y="0"/>
                    </a:lnTo>
                    <a:lnTo>
                      <a:pt x="0" y="69850"/>
                    </a:lnTo>
                    <a:lnTo>
                      <a:pt x="1137367" y="69850"/>
                    </a:lnTo>
                    <a:lnTo>
                      <a:pt x="1137367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733081" y="286211"/>
              <a:ext cx="442818" cy="235857"/>
              <a:chOff x="0" y="0"/>
              <a:chExt cx="805931" cy="4292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-5080"/>
                <a:ext cx="805931" cy="434340"/>
              </a:xfrm>
              <a:custGeom>
                <a:avLst/>
                <a:gdLst/>
                <a:ahLst/>
                <a:cxnLst/>
                <a:rect l="l" t="t" r="r" b="b"/>
                <a:pathLst>
                  <a:path w="805931" h="434340">
                    <a:moveTo>
                      <a:pt x="788152" y="187960"/>
                    </a:moveTo>
                    <a:lnTo>
                      <a:pt x="526531" y="11430"/>
                    </a:lnTo>
                    <a:cubicBezTo>
                      <a:pt x="508752" y="0"/>
                      <a:pt x="485891" y="3810"/>
                      <a:pt x="473191" y="21590"/>
                    </a:cubicBezTo>
                    <a:cubicBezTo>
                      <a:pt x="461761" y="39370"/>
                      <a:pt x="465572" y="62230"/>
                      <a:pt x="483352" y="74930"/>
                    </a:cubicBezTo>
                    <a:lnTo>
                      <a:pt x="642102" y="181610"/>
                    </a:lnTo>
                    <a:lnTo>
                      <a:pt x="0" y="181610"/>
                    </a:lnTo>
                    <a:lnTo>
                      <a:pt x="0" y="257810"/>
                    </a:lnTo>
                    <a:lnTo>
                      <a:pt x="642102" y="257810"/>
                    </a:lnTo>
                    <a:lnTo>
                      <a:pt x="483352" y="364490"/>
                    </a:lnTo>
                    <a:cubicBezTo>
                      <a:pt x="465572" y="375920"/>
                      <a:pt x="461761" y="400050"/>
                      <a:pt x="473192" y="417830"/>
                    </a:cubicBezTo>
                    <a:cubicBezTo>
                      <a:pt x="480811" y="429260"/>
                      <a:pt x="492242" y="434340"/>
                      <a:pt x="504942" y="434340"/>
                    </a:cubicBezTo>
                    <a:cubicBezTo>
                      <a:pt x="512561" y="434340"/>
                      <a:pt x="520181" y="431800"/>
                      <a:pt x="526531" y="427990"/>
                    </a:cubicBezTo>
                    <a:lnTo>
                      <a:pt x="789422" y="251460"/>
                    </a:lnTo>
                    <a:cubicBezTo>
                      <a:pt x="799581" y="243840"/>
                      <a:pt x="805931" y="232410"/>
                      <a:pt x="805931" y="219710"/>
                    </a:cubicBezTo>
                    <a:cubicBezTo>
                      <a:pt x="805931" y="207010"/>
                      <a:pt x="799581" y="195580"/>
                      <a:pt x="788152" y="18796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pt-BR"/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1703647" y="3391738"/>
            <a:ext cx="3401797" cy="629691"/>
            <a:chOff x="0" y="0"/>
            <a:chExt cx="4535730" cy="839589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4535730" cy="839589"/>
              <a:chOff x="0" y="0"/>
              <a:chExt cx="4789004" cy="88647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0010" y="80010"/>
                <a:ext cx="4696294" cy="793761"/>
              </a:xfrm>
              <a:custGeom>
                <a:avLst/>
                <a:gdLst/>
                <a:ahLst/>
                <a:cxnLst/>
                <a:rect l="l" t="t" r="r" b="b"/>
                <a:pathLst>
                  <a:path w="4696294" h="793761">
                    <a:moveTo>
                      <a:pt x="0" y="739151"/>
                    </a:moveTo>
                    <a:lnTo>
                      <a:pt x="0" y="793761"/>
                    </a:lnTo>
                    <a:lnTo>
                      <a:pt x="4696294" y="793761"/>
                    </a:lnTo>
                    <a:lnTo>
                      <a:pt x="4696294" y="0"/>
                    </a:lnTo>
                    <a:lnTo>
                      <a:pt x="4641684" y="0"/>
                    </a:lnTo>
                    <a:lnTo>
                      <a:pt x="4641684" y="739151"/>
                    </a:lnTo>
                    <a:close/>
                  </a:path>
                </a:pathLst>
              </a:custGeom>
              <a:solidFill>
                <a:srgbClr val="35A1F4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67310" y="67310"/>
                <a:ext cx="4721694" cy="819161"/>
              </a:xfrm>
              <a:custGeom>
                <a:avLst/>
                <a:gdLst/>
                <a:ahLst/>
                <a:cxnLst/>
                <a:rect l="l" t="t" r="r" b="b"/>
                <a:pathLst>
                  <a:path w="4721694" h="819161">
                    <a:moveTo>
                      <a:pt x="4654384" y="0"/>
                    </a:moveTo>
                    <a:lnTo>
                      <a:pt x="4654384" y="12700"/>
                    </a:lnTo>
                    <a:lnTo>
                      <a:pt x="4708994" y="12700"/>
                    </a:lnTo>
                    <a:lnTo>
                      <a:pt x="4708994" y="806461"/>
                    </a:lnTo>
                    <a:lnTo>
                      <a:pt x="12700" y="806461"/>
                    </a:lnTo>
                    <a:lnTo>
                      <a:pt x="12700" y="751851"/>
                    </a:lnTo>
                    <a:lnTo>
                      <a:pt x="0" y="751851"/>
                    </a:lnTo>
                    <a:lnTo>
                      <a:pt x="0" y="819161"/>
                    </a:lnTo>
                    <a:lnTo>
                      <a:pt x="4721694" y="819161"/>
                    </a:lnTo>
                    <a:lnTo>
                      <a:pt x="472169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12700" y="12700"/>
                <a:ext cx="4696294" cy="793761"/>
              </a:xfrm>
              <a:custGeom>
                <a:avLst/>
                <a:gdLst/>
                <a:ahLst/>
                <a:cxnLst/>
                <a:rect l="l" t="t" r="r" b="b"/>
                <a:pathLst>
                  <a:path w="4696294" h="793761">
                    <a:moveTo>
                      <a:pt x="0" y="0"/>
                    </a:moveTo>
                    <a:lnTo>
                      <a:pt x="4696294" y="0"/>
                    </a:lnTo>
                    <a:lnTo>
                      <a:pt x="4696294" y="793761"/>
                    </a:lnTo>
                    <a:lnTo>
                      <a:pt x="0" y="7937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0" y="0"/>
                <a:ext cx="4721694" cy="819161"/>
              </a:xfrm>
              <a:custGeom>
                <a:avLst/>
                <a:gdLst/>
                <a:ahLst/>
                <a:cxnLst/>
                <a:rect l="l" t="t" r="r" b="b"/>
                <a:pathLst>
                  <a:path w="4721694" h="819161">
                    <a:moveTo>
                      <a:pt x="80010" y="819161"/>
                    </a:moveTo>
                    <a:lnTo>
                      <a:pt x="4721694" y="819161"/>
                    </a:lnTo>
                    <a:lnTo>
                      <a:pt x="4721694" y="80010"/>
                    </a:lnTo>
                    <a:lnTo>
                      <a:pt x="4721694" y="67310"/>
                    </a:lnTo>
                    <a:lnTo>
                      <a:pt x="4721694" y="0"/>
                    </a:lnTo>
                    <a:lnTo>
                      <a:pt x="0" y="0"/>
                    </a:lnTo>
                    <a:lnTo>
                      <a:pt x="0" y="819161"/>
                    </a:lnTo>
                    <a:lnTo>
                      <a:pt x="67310" y="819161"/>
                    </a:lnTo>
                    <a:lnTo>
                      <a:pt x="80010" y="819161"/>
                    </a:lnTo>
                    <a:close/>
                    <a:moveTo>
                      <a:pt x="12700" y="12700"/>
                    </a:moveTo>
                    <a:lnTo>
                      <a:pt x="4708994" y="12700"/>
                    </a:lnTo>
                    <a:lnTo>
                      <a:pt x="4708994" y="806461"/>
                    </a:lnTo>
                    <a:lnTo>
                      <a:pt x="12700" y="806461"/>
                    </a:lnTo>
                    <a:lnTo>
                      <a:pt x="12700" y="12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088103" y="203907"/>
              <a:ext cx="2559640" cy="4147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50"/>
                </a:lnSpc>
              </a:pPr>
              <a:r>
                <a:rPr lang="en-US" sz="2040" spc="-6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TAREFAS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6413" y="203907"/>
              <a:ext cx="303372" cy="4004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25"/>
                </a:lnSpc>
              </a:pPr>
              <a:r>
                <a:rPr lang="en-US" sz="2020" spc="-6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 rot="-5400000">
              <a:off x="541577" y="296006"/>
              <a:ext cx="430398" cy="216265"/>
              <a:chOff x="0" y="0"/>
              <a:chExt cx="1137367" cy="5715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255270"/>
                <a:ext cx="1137367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137367" h="69850">
                    <a:moveTo>
                      <a:pt x="846537" y="0"/>
                    </a:moveTo>
                    <a:lnTo>
                      <a:pt x="0" y="0"/>
                    </a:lnTo>
                    <a:lnTo>
                      <a:pt x="0" y="69850"/>
                    </a:lnTo>
                    <a:lnTo>
                      <a:pt x="1137367" y="69850"/>
                    </a:lnTo>
                    <a:lnTo>
                      <a:pt x="1137367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3733081" y="286211"/>
              <a:ext cx="442818" cy="235857"/>
              <a:chOff x="0" y="0"/>
              <a:chExt cx="805931" cy="4292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-5080"/>
                <a:ext cx="805931" cy="434340"/>
              </a:xfrm>
              <a:custGeom>
                <a:avLst/>
                <a:gdLst/>
                <a:ahLst/>
                <a:cxnLst/>
                <a:rect l="l" t="t" r="r" b="b"/>
                <a:pathLst>
                  <a:path w="805931" h="434340">
                    <a:moveTo>
                      <a:pt x="788152" y="187960"/>
                    </a:moveTo>
                    <a:lnTo>
                      <a:pt x="526531" y="11430"/>
                    </a:lnTo>
                    <a:cubicBezTo>
                      <a:pt x="508752" y="0"/>
                      <a:pt x="485891" y="3810"/>
                      <a:pt x="473191" y="21590"/>
                    </a:cubicBezTo>
                    <a:cubicBezTo>
                      <a:pt x="461761" y="39370"/>
                      <a:pt x="465572" y="62230"/>
                      <a:pt x="483352" y="74930"/>
                    </a:cubicBezTo>
                    <a:lnTo>
                      <a:pt x="642102" y="181610"/>
                    </a:lnTo>
                    <a:lnTo>
                      <a:pt x="0" y="181610"/>
                    </a:lnTo>
                    <a:lnTo>
                      <a:pt x="0" y="257810"/>
                    </a:lnTo>
                    <a:lnTo>
                      <a:pt x="642102" y="257810"/>
                    </a:lnTo>
                    <a:lnTo>
                      <a:pt x="483352" y="364490"/>
                    </a:lnTo>
                    <a:cubicBezTo>
                      <a:pt x="465572" y="375920"/>
                      <a:pt x="461761" y="400050"/>
                      <a:pt x="473192" y="417830"/>
                    </a:cubicBezTo>
                    <a:cubicBezTo>
                      <a:pt x="480811" y="429260"/>
                      <a:pt x="492242" y="434340"/>
                      <a:pt x="504942" y="434340"/>
                    </a:cubicBezTo>
                    <a:cubicBezTo>
                      <a:pt x="512561" y="434340"/>
                      <a:pt x="520181" y="431800"/>
                      <a:pt x="526531" y="427990"/>
                    </a:cubicBezTo>
                    <a:lnTo>
                      <a:pt x="789422" y="251460"/>
                    </a:lnTo>
                    <a:cubicBezTo>
                      <a:pt x="799581" y="243840"/>
                      <a:pt x="805931" y="232410"/>
                      <a:pt x="805931" y="219710"/>
                    </a:cubicBezTo>
                    <a:cubicBezTo>
                      <a:pt x="805931" y="207010"/>
                      <a:pt x="799581" y="195580"/>
                      <a:pt x="788152" y="18796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pt-BR"/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12419581" y="3391738"/>
            <a:ext cx="3401797" cy="629691"/>
            <a:chOff x="0" y="0"/>
            <a:chExt cx="4535730" cy="839589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4535730" cy="839589"/>
              <a:chOff x="0" y="0"/>
              <a:chExt cx="4789004" cy="886471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0010" y="80010"/>
                <a:ext cx="4696294" cy="793761"/>
              </a:xfrm>
              <a:custGeom>
                <a:avLst/>
                <a:gdLst/>
                <a:ahLst/>
                <a:cxnLst/>
                <a:rect l="l" t="t" r="r" b="b"/>
                <a:pathLst>
                  <a:path w="4696294" h="793761">
                    <a:moveTo>
                      <a:pt x="0" y="739151"/>
                    </a:moveTo>
                    <a:lnTo>
                      <a:pt x="0" y="793761"/>
                    </a:lnTo>
                    <a:lnTo>
                      <a:pt x="4696294" y="793761"/>
                    </a:lnTo>
                    <a:lnTo>
                      <a:pt x="4696294" y="0"/>
                    </a:lnTo>
                    <a:lnTo>
                      <a:pt x="4641684" y="0"/>
                    </a:lnTo>
                    <a:lnTo>
                      <a:pt x="4641684" y="739151"/>
                    </a:lnTo>
                    <a:close/>
                  </a:path>
                </a:pathLst>
              </a:custGeom>
              <a:solidFill>
                <a:srgbClr val="43C466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67310" y="67310"/>
                <a:ext cx="4721694" cy="819161"/>
              </a:xfrm>
              <a:custGeom>
                <a:avLst/>
                <a:gdLst/>
                <a:ahLst/>
                <a:cxnLst/>
                <a:rect l="l" t="t" r="r" b="b"/>
                <a:pathLst>
                  <a:path w="4721694" h="819161">
                    <a:moveTo>
                      <a:pt x="4654384" y="0"/>
                    </a:moveTo>
                    <a:lnTo>
                      <a:pt x="4654384" y="12700"/>
                    </a:lnTo>
                    <a:lnTo>
                      <a:pt x="4708994" y="12700"/>
                    </a:lnTo>
                    <a:lnTo>
                      <a:pt x="4708994" y="806461"/>
                    </a:lnTo>
                    <a:lnTo>
                      <a:pt x="12700" y="806461"/>
                    </a:lnTo>
                    <a:lnTo>
                      <a:pt x="12700" y="751851"/>
                    </a:lnTo>
                    <a:lnTo>
                      <a:pt x="0" y="751851"/>
                    </a:lnTo>
                    <a:lnTo>
                      <a:pt x="0" y="819161"/>
                    </a:lnTo>
                    <a:lnTo>
                      <a:pt x="4721694" y="819161"/>
                    </a:lnTo>
                    <a:lnTo>
                      <a:pt x="472169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12700" y="12700"/>
                <a:ext cx="4696294" cy="793761"/>
              </a:xfrm>
              <a:custGeom>
                <a:avLst/>
                <a:gdLst/>
                <a:ahLst/>
                <a:cxnLst/>
                <a:rect l="l" t="t" r="r" b="b"/>
                <a:pathLst>
                  <a:path w="4696294" h="793761">
                    <a:moveTo>
                      <a:pt x="0" y="0"/>
                    </a:moveTo>
                    <a:lnTo>
                      <a:pt x="4696294" y="0"/>
                    </a:lnTo>
                    <a:lnTo>
                      <a:pt x="4696294" y="793761"/>
                    </a:lnTo>
                    <a:lnTo>
                      <a:pt x="0" y="7937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0" y="0"/>
                <a:ext cx="4721694" cy="819161"/>
              </a:xfrm>
              <a:custGeom>
                <a:avLst/>
                <a:gdLst/>
                <a:ahLst/>
                <a:cxnLst/>
                <a:rect l="l" t="t" r="r" b="b"/>
                <a:pathLst>
                  <a:path w="4721694" h="819161">
                    <a:moveTo>
                      <a:pt x="80010" y="819161"/>
                    </a:moveTo>
                    <a:lnTo>
                      <a:pt x="4721694" y="819161"/>
                    </a:lnTo>
                    <a:lnTo>
                      <a:pt x="4721694" y="80010"/>
                    </a:lnTo>
                    <a:lnTo>
                      <a:pt x="4721694" y="67310"/>
                    </a:lnTo>
                    <a:lnTo>
                      <a:pt x="4721694" y="0"/>
                    </a:lnTo>
                    <a:lnTo>
                      <a:pt x="0" y="0"/>
                    </a:lnTo>
                    <a:lnTo>
                      <a:pt x="0" y="819161"/>
                    </a:lnTo>
                    <a:lnTo>
                      <a:pt x="67310" y="819161"/>
                    </a:lnTo>
                    <a:lnTo>
                      <a:pt x="80010" y="819161"/>
                    </a:lnTo>
                    <a:close/>
                    <a:moveTo>
                      <a:pt x="12700" y="12700"/>
                    </a:moveTo>
                    <a:lnTo>
                      <a:pt x="4708994" y="12700"/>
                    </a:lnTo>
                    <a:lnTo>
                      <a:pt x="4708994" y="806461"/>
                    </a:lnTo>
                    <a:lnTo>
                      <a:pt x="12700" y="806461"/>
                    </a:lnTo>
                    <a:lnTo>
                      <a:pt x="12700" y="12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1088103" y="203907"/>
              <a:ext cx="2559640" cy="4147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50"/>
                </a:lnSpc>
              </a:pPr>
              <a:r>
                <a:rPr lang="en-US" sz="2040" spc="-6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APROVADO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86413" y="203907"/>
              <a:ext cx="303372" cy="4004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25"/>
                </a:lnSpc>
              </a:pPr>
              <a:r>
                <a:rPr lang="en-US" sz="2020" spc="-6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 rot="-5400000">
              <a:off x="541577" y="296006"/>
              <a:ext cx="430398" cy="216265"/>
              <a:chOff x="0" y="0"/>
              <a:chExt cx="1137367" cy="5715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255270"/>
                <a:ext cx="1137367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137367" h="69850">
                    <a:moveTo>
                      <a:pt x="846537" y="0"/>
                    </a:moveTo>
                    <a:lnTo>
                      <a:pt x="0" y="0"/>
                    </a:lnTo>
                    <a:lnTo>
                      <a:pt x="0" y="69850"/>
                    </a:lnTo>
                    <a:lnTo>
                      <a:pt x="1137367" y="69850"/>
                    </a:lnTo>
                    <a:lnTo>
                      <a:pt x="1137367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50" name="Freeform 50"/>
            <p:cNvSpPr/>
            <p:nvPr/>
          </p:nvSpPr>
          <p:spPr>
            <a:xfrm>
              <a:off x="3937410" y="239596"/>
              <a:ext cx="330637" cy="330637"/>
            </a:xfrm>
            <a:custGeom>
              <a:avLst/>
              <a:gdLst/>
              <a:ahLst/>
              <a:cxnLst/>
              <a:rect l="l" t="t" r="r" b="b"/>
              <a:pathLst>
                <a:path w="330637" h="330637">
                  <a:moveTo>
                    <a:pt x="0" y="0"/>
                  </a:moveTo>
                  <a:lnTo>
                    <a:pt x="330638" y="0"/>
                  </a:lnTo>
                  <a:lnTo>
                    <a:pt x="330638" y="330637"/>
                  </a:lnTo>
                  <a:lnTo>
                    <a:pt x="0" y="33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257742" y="4348628"/>
            <a:ext cx="3401797" cy="493510"/>
            <a:chOff x="0" y="0"/>
            <a:chExt cx="812800" cy="11791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117915"/>
            </a:xfrm>
            <a:custGeom>
              <a:avLst/>
              <a:gdLst/>
              <a:ahLst/>
              <a:cxnLst/>
              <a:rect l="l" t="t" r="r" b="b"/>
              <a:pathLst>
                <a:path w="812800" h="117915">
                  <a:moveTo>
                    <a:pt x="0" y="0"/>
                  </a:moveTo>
                  <a:lnTo>
                    <a:pt x="812800" y="0"/>
                  </a:lnTo>
                  <a:lnTo>
                    <a:pt x="812800" y="117915"/>
                  </a:lnTo>
                  <a:lnTo>
                    <a:pt x="0" y="117915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812800" cy="146490"/>
            </a:xfrm>
            <a:prstGeom prst="rect">
              <a:avLst/>
            </a:prstGeom>
          </p:spPr>
          <p:txBody>
            <a:bodyPr lIns="34563" tIns="34563" rIns="34563" bIns="34563" rtlCol="0" anchor="ctr"/>
            <a:lstStyle/>
            <a:p>
              <a:pPr algn="ctr">
                <a:lnSpc>
                  <a:spcPts val="1715"/>
                </a:lnSpc>
              </a:pPr>
              <a:r>
                <a:rPr lang="pt-BR" altLang="en-US" sz="1225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Produção dos Wireframes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857557" y="4348450"/>
            <a:ext cx="3401797" cy="493510"/>
            <a:chOff x="0" y="0"/>
            <a:chExt cx="812800" cy="11791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12800" cy="117915"/>
            </a:xfrm>
            <a:custGeom>
              <a:avLst/>
              <a:gdLst/>
              <a:ahLst/>
              <a:cxnLst/>
              <a:rect l="l" t="t" r="r" b="b"/>
              <a:pathLst>
                <a:path w="812800" h="117915">
                  <a:moveTo>
                    <a:pt x="0" y="0"/>
                  </a:moveTo>
                  <a:lnTo>
                    <a:pt x="812800" y="0"/>
                  </a:lnTo>
                  <a:lnTo>
                    <a:pt x="812800" y="117915"/>
                  </a:lnTo>
                  <a:lnTo>
                    <a:pt x="0" y="117915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28575"/>
              <a:ext cx="812800" cy="146490"/>
            </a:xfrm>
            <a:prstGeom prst="rect">
              <a:avLst/>
            </a:prstGeom>
          </p:spPr>
          <p:txBody>
            <a:bodyPr lIns="34563" tIns="34563" rIns="34563" bIns="34563" rtlCol="0" anchor="ctr"/>
            <a:lstStyle/>
            <a:p>
              <a:pPr algn="ctr">
                <a:lnSpc>
                  <a:spcPts val="1715"/>
                </a:lnSpc>
              </a:pPr>
              <a:r>
                <a:rPr lang="pt-BR" altLang="en-US" sz="1225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Documentação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866447" y="5339507"/>
            <a:ext cx="3401797" cy="493510"/>
            <a:chOff x="0" y="0"/>
            <a:chExt cx="812800" cy="117915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2800" cy="117915"/>
            </a:xfrm>
            <a:custGeom>
              <a:avLst/>
              <a:gdLst/>
              <a:ahLst/>
              <a:cxnLst/>
              <a:rect l="l" t="t" r="r" b="b"/>
              <a:pathLst>
                <a:path w="812800" h="117915">
                  <a:moveTo>
                    <a:pt x="0" y="0"/>
                  </a:moveTo>
                  <a:lnTo>
                    <a:pt x="812800" y="0"/>
                  </a:lnTo>
                  <a:lnTo>
                    <a:pt x="812800" y="117915"/>
                  </a:lnTo>
                  <a:lnTo>
                    <a:pt x="0" y="117915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28575"/>
              <a:ext cx="812800" cy="146490"/>
            </a:xfrm>
            <a:prstGeom prst="rect">
              <a:avLst/>
            </a:prstGeom>
          </p:spPr>
          <p:txBody>
            <a:bodyPr lIns="34563" tIns="34563" rIns="34563" bIns="34563" rtlCol="0" anchor="ctr"/>
            <a:lstStyle/>
            <a:p>
              <a:pPr algn="ctr">
                <a:lnSpc>
                  <a:spcPts val="1715"/>
                </a:lnSpc>
              </a:pPr>
              <a:r>
                <a:rPr lang="pt-BR" altLang="en-US" sz="1225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Apresentação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896292" y="6329929"/>
            <a:ext cx="3401797" cy="493510"/>
            <a:chOff x="0" y="0"/>
            <a:chExt cx="812800" cy="117915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12800" cy="117915"/>
            </a:xfrm>
            <a:custGeom>
              <a:avLst/>
              <a:gdLst/>
              <a:ahLst/>
              <a:cxnLst/>
              <a:rect l="l" t="t" r="r" b="b"/>
              <a:pathLst>
                <a:path w="812800" h="117915">
                  <a:moveTo>
                    <a:pt x="0" y="0"/>
                  </a:moveTo>
                  <a:lnTo>
                    <a:pt x="812800" y="0"/>
                  </a:lnTo>
                  <a:lnTo>
                    <a:pt x="812800" y="117915"/>
                  </a:lnTo>
                  <a:lnTo>
                    <a:pt x="0" y="117915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28575"/>
              <a:ext cx="812800" cy="146490"/>
            </a:xfrm>
            <a:prstGeom prst="rect">
              <a:avLst/>
            </a:prstGeom>
          </p:spPr>
          <p:txBody>
            <a:bodyPr lIns="34563" tIns="34563" rIns="34563" bIns="34563" rtlCol="0" anchor="ctr"/>
            <a:lstStyle/>
            <a:p>
              <a:pPr algn="ctr">
                <a:lnSpc>
                  <a:spcPts val="1715"/>
                </a:lnSpc>
              </a:pPr>
              <a:r>
                <a:rPr lang="pt-BR" altLang="en-US" sz="1225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Produção dos formulários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896292" y="7320351"/>
            <a:ext cx="3401797" cy="493510"/>
            <a:chOff x="0" y="0"/>
            <a:chExt cx="812800" cy="11791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12800" cy="117915"/>
            </a:xfrm>
            <a:custGeom>
              <a:avLst/>
              <a:gdLst/>
              <a:ahLst/>
              <a:cxnLst/>
              <a:rect l="l" t="t" r="r" b="b"/>
              <a:pathLst>
                <a:path w="812800" h="117915">
                  <a:moveTo>
                    <a:pt x="0" y="0"/>
                  </a:moveTo>
                  <a:lnTo>
                    <a:pt x="812800" y="0"/>
                  </a:lnTo>
                  <a:lnTo>
                    <a:pt x="812800" y="117915"/>
                  </a:lnTo>
                  <a:lnTo>
                    <a:pt x="0" y="117915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28575"/>
              <a:ext cx="812800" cy="146490"/>
            </a:xfrm>
            <a:prstGeom prst="rect">
              <a:avLst/>
            </a:prstGeom>
          </p:spPr>
          <p:txBody>
            <a:bodyPr lIns="34563" tIns="34563" rIns="34563" bIns="34563" rtlCol="0" anchor="ctr"/>
            <a:lstStyle/>
            <a:p>
              <a:pPr algn="ctr">
                <a:lnSpc>
                  <a:spcPts val="1715"/>
                </a:lnSpc>
              </a:pPr>
              <a:r>
                <a:rPr lang="pt-BR" altLang="en-US" sz="1225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Artigo Acadêmico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896292" y="8387608"/>
            <a:ext cx="3401797" cy="493510"/>
            <a:chOff x="0" y="0"/>
            <a:chExt cx="812800" cy="11791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12800" cy="117915"/>
            </a:xfrm>
            <a:custGeom>
              <a:avLst/>
              <a:gdLst/>
              <a:ahLst/>
              <a:cxnLst/>
              <a:rect l="l" t="t" r="r" b="b"/>
              <a:pathLst>
                <a:path w="812800" h="117915">
                  <a:moveTo>
                    <a:pt x="0" y="0"/>
                  </a:moveTo>
                  <a:lnTo>
                    <a:pt x="812800" y="0"/>
                  </a:lnTo>
                  <a:lnTo>
                    <a:pt x="812800" y="117915"/>
                  </a:lnTo>
                  <a:lnTo>
                    <a:pt x="0" y="117915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28575"/>
              <a:ext cx="812800" cy="146490"/>
            </a:xfrm>
            <a:prstGeom prst="rect">
              <a:avLst/>
            </a:prstGeom>
          </p:spPr>
          <p:txBody>
            <a:bodyPr lIns="34563" tIns="34563" rIns="34563" bIns="34563" rtlCol="0" anchor="ctr"/>
            <a:lstStyle/>
            <a:p>
              <a:pPr algn="ctr">
                <a:lnSpc>
                  <a:spcPts val="1715"/>
                </a:lnSpc>
              </a:pPr>
              <a:r>
                <a:rPr lang="pt-BR" altLang="en-US" sz="1225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Landing Page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165120" y="1593131"/>
            <a:ext cx="15175471" cy="1566539"/>
            <a:chOff x="0" y="0"/>
            <a:chExt cx="9913236" cy="1023327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9913236" cy="1023327"/>
            </a:xfrm>
            <a:custGeom>
              <a:avLst/>
              <a:gdLst/>
              <a:ahLst/>
              <a:cxnLst/>
              <a:rect l="l" t="t" r="r" b="b"/>
              <a:pathLst>
                <a:path w="9913236" h="1023327">
                  <a:moveTo>
                    <a:pt x="0" y="0"/>
                  </a:moveTo>
                  <a:lnTo>
                    <a:pt x="9913236" y="0"/>
                  </a:lnTo>
                  <a:lnTo>
                    <a:pt x="9913236" y="1023327"/>
                  </a:lnTo>
                  <a:lnTo>
                    <a:pt x="0" y="1023327"/>
                  </a:lnTo>
                  <a:close/>
                </a:path>
              </a:pathLst>
            </a:custGeom>
            <a:solidFill>
              <a:srgbClr val="43C46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123825"/>
              <a:ext cx="9913236" cy="1147152"/>
            </a:xfrm>
            <a:prstGeom prst="rect">
              <a:avLst/>
            </a:prstGeom>
          </p:spPr>
          <p:txBody>
            <a:bodyPr lIns="172814" tIns="172814" rIns="172814" bIns="172814" rtlCol="0" anchor="ctr"/>
            <a:lstStyle/>
            <a:p>
              <a:pPr algn="l">
                <a:lnSpc>
                  <a:spcPts val="9620"/>
                </a:lnSpc>
              </a:pPr>
              <a:r>
                <a:rPr lang="en-US" sz="687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 Quadro Kanban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2323987" y="2237386"/>
            <a:ext cx="3401797" cy="31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50"/>
              </a:lnSpc>
            </a:pPr>
            <a:r>
              <a:rPr lang="en-US" sz="24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Equipe:</a:t>
            </a:r>
            <a:r>
              <a:rPr lang="pt-BR" altLang="en-US" sz="24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TREZZOR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763000" y="1272994"/>
            <a:ext cx="0" cy="9190396"/>
          </a:xfrm>
          <a:prstGeom prst="line">
            <a:avLst/>
          </a:prstGeom>
          <a:ln w="9525" cap="flat">
            <a:solidFill>
              <a:srgbClr val="231F2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>
            <a:off x="3821302" y="6324606"/>
            <a:ext cx="12726996" cy="0"/>
          </a:xfrm>
          <a:prstGeom prst="line">
            <a:avLst/>
          </a:prstGeom>
          <a:ln w="9525" cap="flat">
            <a:solidFill>
              <a:srgbClr val="8B9C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3821302" y="5064119"/>
            <a:ext cx="12726996" cy="0"/>
          </a:xfrm>
          <a:prstGeom prst="line">
            <a:avLst/>
          </a:prstGeom>
          <a:ln w="9525" cap="flat">
            <a:solidFill>
              <a:srgbClr val="8B9C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AutoShape 5"/>
          <p:cNvSpPr/>
          <p:nvPr/>
        </p:nvSpPr>
        <p:spPr>
          <a:xfrm>
            <a:off x="3667581" y="10243009"/>
            <a:ext cx="9986930" cy="0"/>
          </a:xfrm>
          <a:prstGeom prst="line">
            <a:avLst/>
          </a:prstGeom>
          <a:ln w="9525" cap="flat">
            <a:solidFill>
              <a:srgbClr val="8B9C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AutoShape 6"/>
          <p:cNvSpPr/>
          <p:nvPr/>
        </p:nvSpPr>
        <p:spPr>
          <a:xfrm>
            <a:off x="3821302" y="3803633"/>
            <a:ext cx="12726996" cy="0"/>
          </a:xfrm>
          <a:prstGeom prst="line">
            <a:avLst/>
          </a:prstGeom>
          <a:ln w="9525" cap="flat">
            <a:solidFill>
              <a:srgbClr val="8B9C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AutoShape 7"/>
          <p:cNvSpPr/>
          <p:nvPr/>
        </p:nvSpPr>
        <p:spPr>
          <a:xfrm>
            <a:off x="3821302" y="8845578"/>
            <a:ext cx="12726996" cy="0"/>
          </a:xfrm>
          <a:prstGeom prst="line">
            <a:avLst/>
          </a:prstGeom>
          <a:ln w="9525" cap="flat">
            <a:solidFill>
              <a:srgbClr val="8B9C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/>
          <p:cNvSpPr/>
          <p:nvPr/>
        </p:nvSpPr>
        <p:spPr>
          <a:xfrm>
            <a:off x="3821302" y="2543146"/>
            <a:ext cx="12726996" cy="0"/>
          </a:xfrm>
          <a:prstGeom prst="line">
            <a:avLst/>
          </a:prstGeom>
          <a:ln w="9525" cap="flat">
            <a:solidFill>
              <a:srgbClr val="8B9C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AutoShape 9"/>
          <p:cNvSpPr/>
          <p:nvPr/>
        </p:nvSpPr>
        <p:spPr>
          <a:xfrm>
            <a:off x="3821302" y="7585092"/>
            <a:ext cx="12726996" cy="0"/>
          </a:xfrm>
          <a:prstGeom prst="line">
            <a:avLst/>
          </a:prstGeom>
          <a:ln w="9525" cap="flat">
            <a:solidFill>
              <a:srgbClr val="8B9C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0" name="AutoShape 10"/>
          <p:cNvSpPr/>
          <p:nvPr/>
        </p:nvSpPr>
        <p:spPr>
          <a:xfrm>
            <a:off x="3821302" y="1274594"/>
            <a:ext cx="12726996" cy="0"/>
          </a:xfrm>
          <a:prstGeom prst="line">
            <a:avLst/>
          </a:prstGeom>
          <a:ln w="9525" cap="flat">
            <a:solidFill>
              <a:srgbClr val="8B9C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147410" y="1404571"/>
            <a:ext cx="2863901" cy="984401"/>
            <a:chOff x="0" y="0"/>
            <a:chExt cx="559290" cy="1922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59290" cy="192243"/>
            </a:xfrm>
            <a:custGeom>
              <a:avLst/>
              <a:gdLst/>
              <a:ahLst/>
              <a:cxnLst/>
              <a:rect l="l" t="t" r="r" b="b"/>
              <a:pathLst>
                <a:path w="559290" h="192243">
                  <a:moveTo>
                    <a:pt x="96122" y="0"/>
                  </a:moveTo>
                  <a:lnTo>
                    <a:pt x="463168" y="0"/>
                  </a:lnTo>
                  <a:cubicBezTo>
                    <a:pt x="488661" y="0"/>
                    <a:pt x="513110" y="10127"/>
                    <a:pt x="531137" y="28153"/>
                  </a:cubicBezTo>
                  <a:cubicBezTo>
                    <a:pt x="549163" y="46180"/>
                    <a:pt x="559290" y="70629"/>
                    <a:pt x="559290" y="96122"/>
                  </a:cubicBezTo>
                  <a:lnTo>
                    <a:pt x="559290" y="96122"/>
                  </a:lnTo>
                  <a:cubicBezTo>
                    <a:pt x="559290" y="149208"/>
                    <a:pt x="516255" y="192243"/>
                    <a:pt x="463168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559290" cy="192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5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029200" y="1405383"/>
            <a:ext cx="3743947" cy="984401"/>
            <a:chOff x="0" y="0"/>
            <a:chExt cx="1267145" cy="19224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67145" cy="192243"/>
            </a:xfrm>
            <a:custGeom>
              <a:avLst/>
              <a:gdLst/>
              <a:ahLst/>
              <a:cxnLst/>
              <a:rect l="l" t="t" r="r" b="b"/>
              <a:pathLst>
                <a:path w="1267145" h="192243">
                  <a:moveTo>
                    <a:pt x="96122" y="0"/>
                  </a:moveTo>
                  <a:lnTo>
                    <a:pt x="1171024" y="0"/>
                  </a:lnTo>
                  <a:cubicBezTo>
                    <a:pt x="1196517" y="0"/>
                    <a:pt x="1220966" y="10127"/>
                    <a:pt x="1238992" y="28153"/>
                  </a:cubicBezTo>
                  <a:cubicBezTo>
                    <a:pt x="1257018" y="46180"/>
                    <a:pt x="1267145" y="70629"/>
                    <a:pt x="1267145" y="96122"/>
                  </a:cubicBezTo>
                  <a:lnTo>
                    <a:pt x="1267145" y="96122"/>
                  </a:lnTo>
                  <a:cubicBezTo>
                    <a:pt x="1267145" y="149208"/>
                    <a:pt x="1224110" y="192243"/>
                    <a:pt x="1171024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51CFB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267145" cy="192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5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7" y="2645900"/>
            <a:ext cx="4057290" cy="984401"/>
            <a:chOff x="0" y="0"/>
            <a:chExt cx="934728" cy="19224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34728" cy="192243"/>
            </a:xfrm>
            <a:custGeom>
              <a:avLst/>
              <a:gdLst/>
              <a:ahLst/>
              <a:cxnLst/>
              <a:rect l="l" t="t" r="r" b="b"/>
              <a:pathLst>
                <a:path w="934728" h="192243">
                  <a:moveTo>
                    <a:pt x="96122" y="0"/>
                  </a:moveTo>
                  <a:lnTo>
                    <a:pt x="838606" y="0"/>
                  </a:lnTo>
                  <a:cubicBezTo>
                    <a:pt x="864099" y="0"/>
                    <a:pt x="888548" y="10127"/>
                    <a:pt x="906575" y="28153"/>
                  </a:cubicBezTo>
                  <a:cubicBezTo>
                    <a:pt x="924601" y="46180"/>
                    <a:pt x="934728" y="70629"/>
                    <a:pt x="934728" y="96122"/>
                  </a:cubicBezTo>
                  <a:lnTo>
                    <a:pt x="934728" y="96122"/>
                  </a:lnTo>
                  <a:cubicBezTo>
                    <a:pt x="934728" y="121615"/>
                    <a:pt x="924601" y="146064"/>
                    <a:pt x="906575" y="164090"/>
                  </a:cubicBezTo>
                  <a:cubicBezTo>
                    <a:pt x="888548" y="182116"/>
                    <a:pt x="864099" y="192243"/>
                    <a:pt x="838606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768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934728" cy="192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5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7410" y="3930409"/>
            <a:ext cx="2863901" cy="984401"/>
            <a:chOff x="0" y="0"/>
            <a:chExt cx="559290" cy="19224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59290" cy="192243"/>
            </a:xfrm>
            <a:custGeom>
              <a:avLst/>
              <a:gdLst/>
              <a:ahLst/>
              <a:cxnLst/>
              <a:rect l="l" t="t" r="r" b="b"/>
              <a:pathLst>
                <a:path w="559290" h="192243">
                  <a:moveTo>
                    <a:pt x="96122" y="0"/>
                  </a:moveTo>
                  <a:lnTo>
                    <a:pt x="463168" y="0"/>
                  </a:lnTo>
                  <a:cubicBezTo>
                    <a:pt x="488661" y="0"/>
                    <a:pt x="513110" y="10127"/>
                    <a:pt x="531137" y="28153"/>
                  </a:cubicBezTo>
                  <a:cubicBezTo>
                    <a:pt x="549163" y="46180"/>
                    <a:pt x="559290" y="70629"/>
                    <a:pt x="559290" y="96122"/>
                  </a:cubicBezTo>
                  <a:lnTo>
                    <a:pt x="559290" y="96122"/>
                  </a:lnTo>
                  <a:cubicBezTo>
                    <a:pt x="559290" y="149208"/>
                    <a:pt x="516255" y="192243"/>
                    <a:pt x="463168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559290" cy="192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5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7410" y="7719116"/>
            <a:ext cx="2863901" cy="984401"/>
            <a:chOff x="0" y="0"/>
            <a:chExt cx="559290" cy="19224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59290" cy="192243"/>
            </a:xfrm>
            <a:custGeom>
              <a:avLst/>
              <a:gdLst/>
              <a:ahLst/>
              <a:cxnLst/>
              <a:rect l="l" t="t" r="r" b="b"/>
              <a:pathLst>
                <a:path w="559290" h="192243">
                  <a:moveTo>
                    <a:pt x="96122" y="0"/>
                  </a:moveTo>
                  <a:lnTo>
                    <a:pt x="463168" y="0"/>
                  </a:lnTo>
                  <a:cubicBezTo>
                    <a:pt x="488661" y="0"/>
                    <a:pt x="513110" y="10127"/>
                    <a:pt x="531137" y="28153"/>
                  </a:cubicBezTo>
                  <a:cubicBezTo>
                    <a:pt x="549163" y="46180"/>
                    <a:pt x="559290" y="70629"/>
                    <a:pt x="559290" y="96122"/>
                  </a:cubicBezTo>
                  <a:lnTo>
                    <a:pt x="559290" y="96122"/>
                  </a:lnTo>
                  <a:cubicBezTo>
                    <a:pt x="559290" y="149208"/>
                    <a:pt x="516255" y="192243"/>
                    <a:pt x="463168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559290" cy="192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5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7410" y="2667539"/>
            <a:ext cx="2863901" cy="984401"/>
            <a:chOff x="0" y="0"/>
            <a:chExt cx="559290" cy="19224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59290" cy="192243"/>
            </a:xfrm>
            <a:custGeom>
              <a:avLst/>
              <a:gdLst/>
              <a:ahLst/>
              <a:cxnLst/>
              <a:rect l="l" t="t" r="r" b="b"/>
              <a:pathLst>
                <a:path w="559290" h="192243">
                  <a:moveTo>
                    <a:pt x="96122" y="0"/>
                  </a:moveTo>
                  <a:lnTo>
                    <a:pt x="463168" y="0"/>
                  </a:lnTo>
                  <a:cubicBezTo>
                    <a:pt x="488661" y="0"/>
                    <a:pt x="513110" y="10127"/>
                    <a:pt x="531137" y="28153"/>
                  </a:cubicBezTo>
                  <a:cubicBezTo>
                    <a:pt x="549163" y="46180"/>
                    <a:pt x="559290" y="70629"/>
                    <a:pt x="559290" y="96122"/>
                  </a:cubicBezTo>
                  <a:lnTo>
                    <a:pt x="559290" y="96122"/>
                  </a:lnTo>
                  <a:cubicBezTo>
                    <a:pt x="559290" y="149208"/>
                    <a:pt x="516255" y="192243"/>
                    <a:pt x="463168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559290" cy="192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5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47410" y="6456246"/>
            <a:ext cx="2863901" cy="984401"/>
            <a:chOff x="0" y="0"/>
            <a:chExt cx="559290" cy="19224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59290" cy="192243"/>
            </a:xfrm>
            <a:custGeom>
              <a:avLst/>
              <a:gdLst/>
              <a:ahLst/>
              <a:cxnLst/>
              <a:rect l="l" t="t" r="r" b="b"/>
              <a:pathLst>
                <a:path w="559290" h="192243">
                  <a:moveTo>
                    <a:pt x="96122" y="0"/>
                  </a:moveTo>
                  <a:lnTo>
                    <a:pt x="463168" y="0"/>
                  </a:lnTo>
                  <a:cubicBezTo>
                    <a:pt x="488661" y="0"/>
                    <a:pt x="513110" y="10127"/>
                    <a:pt x="531137" y="28153"/>
                  </a:cubicBezTo>
                  <a:cubicBezTo>
                    <a:pt x="549163" y="46180"/>
                    <a:pt x="559290" y="70629"/>
                    <a:pt x="559290" y="96122"/>
                  </a:cubicBezTo>
                  <a:lnTo>
                    <a:pt x="559290" y="96122"/>
                  </a:lnTo>
                  <a:cubicBezTo>
                    <a:pt x="559290" y="149208"/>
                    <a:pt x="516255" y="192243"/>
                    <a:pt x="463168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559290" cy="192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5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7410" y="5193377"/>
            <a:ext cx="2863901" cy="984401"/>
            <a:chOff x="0" y="0"/>
            <a:chExt cx="559290" cy="19224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59290" cy="192243"/>
            </a:xfrm>
            <a:custGeom>
              <a:avLst/>
              <a:gdLst/>
              <a:ahLst/>
              <a:cxnLst/>
              <a:rect l="l" t="t" r="r" b="b"/>
              <a:pathLst>
                <a:path w="559290" h="192243">
                  <a:moveTo>
                    <a:pt x="96122" y="0"/>
                  </a:moveTo>
                  <a:lnTo>
                    <a:pt x="463168" y="0"/>
                  </a:lnTo>
                  <a:cubicBezTo>
                    <a:pt x="488661" y="0"/>
                    <a:pt x="513110" y="10127"/>
                    <a:pt x="531137" y="28153"/>
                  </a:cubicBezTo>
                  <a:cubicBezTo>
                    <a:pt x="549163" y="46180"/>
                    <a:pt x="559290" y="70629"/>
                    <a:pt x="559290" y="96122"/>
                  </a:cubicBezTo>
                  <a:lnTo>
                    <a:pt x="559290" y="96122"/>
                  </a:lnTo>
                  <a:cubicBezTo>
                    <a:pt x="559290" y="149208"/>
                    <a:pt x="516255" y="192243"/>
                    <a:pt x="463168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559290" cy="192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5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7410" y="8982084"/>
            <a:ext cx="2863901" cy="984401"/>
            <a:chOff x="0" y="0"/>
            <a:chExt cx="559290" cy="19224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59290" cy="192243"/>
            </a:xfrm>
            <a:custGeom>
              <a:avLst/>
              <a:gdLst/>
              <a:ahLst/>
              <a:cxnLst/>
              <a:rect l="l" t="t" r="r" b="b"/>
              <a:pathLst>
                <a:path w="559290" h="192243">
                  <a:moveTo>
                    <a:pt x="96122" y="0"/>
                  </a:moveTo>
                  <a:lnTo>
                    <a:pt x="463168" y="0"/>
                  </a:lnTo>
                  <a:cubicBezTo>
                    <a:pt x="488661" y="0"/>
                    <a:pt x="513110" y="10127"/>
                    <a:pt x="531137" y="28153"/>
                  </a:cubicBezTo>
                  <a:cubicBezTo>
                    <a:pt x="549163" y="46180"/>
                    <a:pt x="559290" y="70629"/>
                    <a:pt x="559290" y="96122"/>
                  </a:cubicBezTo>
                  <a:lnTo>
                    <a:pt x="559290" y="96122"/>
                  </a:lnTo>
                  <a:cubicBezTo>
                    <a:pt x="559290" y="149208"/>
                    <a:pt x="516255" y="192243"/>
                    <a:pt x="463168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559290" cy="192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5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877420" y="1619049"/>
            <a:ext cx="571577" cy="571577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951100" y="2890444"/>
            <a:ext cx="571577" cy="571577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572000" y="3951196"/>
            <a:ext cx="10454955" cy="967593"/>
            <a:chOff x="0" y="0"/>
            <a:chExt cx="934728" cy="19224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34728" cy="192243"/>
            </a:xfrm>
            <a:custGeom>
              <a:avLst/>
              <a:gdLst/>
              <a:ahLst/>
              <a:cxnLst/>
              <a:rect l="l" t="t" r="r" b="b"/>
              <a:pathLst>
                <a:path w="934728" h="192243">
                  <a:moveTo>
                    <a:pt x="96122" y="0"/>
                  </a:moveTo>
                  <a:lnTo>
                    <a:pt x="838606" y="0"/>
                  </a:lnTo>
                  <a:cubicBezTo>
                    <a:pt x="864099" y="0"/>
                    <a:pt x="888548" y="10127"/>
                    <a:pt x="906575" y="28153"/>
                  </a:cubicBezTo>
                  <a:cubicBezTo>
                    <a:pt x="924601" y="46180"/>
                    <a:pt x="934728" y="70629"/>
                    <a:pt x="934728" y="96122"/>
                  </a:cubicBezTo>
                  <a:lnTo>
                    <a:pt x="934728" y="96122"/>
                  </a:lnTo>
                  <a:cubicBezTo>
                    <a:pt x="934728" y="121615"/>
                    <a:pt x="924601" y="146064"/>
                    <a:pt x="906575" y="164090"/>
                  </a:cubicBezTo>
                  <a:cubicBezTo>
                    <a:pt x="888548" y="182116"/>
                    <a:pt x="864099" y="192243"/>
                    <a:pt x="838606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46C0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934728" cy="192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5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3766067" y="4145527"/>
            <a:ext cx="571577" cy="571577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633305" y="5182793"/>
            <a:ext cx="11393650" cy="984401"/>
            <a:chOff x="0" y="0"/>
            <a:chExt cx="934728" cy="19224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34728" cy="192243"/>
            </a:xfrm>
            <a:custGeom>
              <a:avLst/>
              <a:gdLst/>
              <a:ahLst/>
              <a:cxnLst/>
              <a:rect l="l" t="t" r="r" b="b"/>
              <a:pathLst>
                <a:path w="934728" h="192243">
                  <a:moveTo>
                    <a:pt x="96122" y="0"/>
                  </a:moveTo>
                  <a:lnTo>
                    <a:pt x="838606" y="0"/>
                  </a:lnTo>
                  <a:cubicBezTo>
                    <a:pt x="864099" y="0"/>
                    <a:pt x="888548" y="10127"/>
                    <a:pt x="906575" y="28153"/>
                  </a:cubicBezTo>
                  <a:cubicBezTo>
                    <a:pt x="924601" y="46180"/>
                    <a:pt x="934728" y="70629"/>
                    <a:pt x="934728" y="96122"/>
                  </a:cubicBezTo>
                  <a:lnTo>
                    <a:pt x="934728" y="96122"/>
                  </a:lnTo>
                  <a:cubicBezTo>
                    <a:pt x="934728" y="121615"/>
                    <a:pt x="924601" y="146064"/>
                    <a:pt x="906575" y="164090"/>
                  </a:cubicBezTo>
                  <a:cubicBezTo>
                    <a:pt x="888548" y="182116"/>
                    <a:pt x="864099" y="192243"/>
                    <a:pt x="838606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BC55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934728" cy="192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5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854295" y="5413311"/>
            <a:ext cx="571577" cy="571577"/>
            <a:chOff x="0" y="0"/>
            <a:chExt cx="812800" cy="8128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538867" y="7708109"/>
            <a:ext cx="3227220" cy="984401"/>
            <a:chOff x="0" y="0"/>
            <a:chExt cx="934728" cy="192243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34728" cy="192243"/>
            </a:xfrm>
            <a:custGeom>
              <a:avLst/>
              <a:gdLst/>
              <a:ahLst/>
              <a:cxnLst/>
              <a:rect l="l" t="t" r="r" b="b"/>
              <a:pathLst>
                <a:path w="934728" h="192243">
                  <a:moveTo>
                    <a:pt x="96122" y="0"/>
                  </a:moveTo>
                  <a:lnTo>
                    <a:pt x="838606" y="0"/>
                  </a:lnTo>
                  <a:cubicBezTo>
                    <a:pt x="864099" y="0"/>
                    <a:pt x="888548" y="10127"/>
                    <a:pt x="906575" y="28153"/>
                  </a:cubicBezTo>
                  <a:cubicBezTo>
                    <a:pt x="924601" y="46180"/>
                    <a:pt x="934728" y="70629"/>
                    <a:pt x="934728" y="96122"/>
                  </a:cubicBezTo>
                  <a:lnTo>
                    <a:pt x="934728" y="96122"/>
                  </a:lnTo>
                  <a:cubicBezTo>
                    <a:pt x="934728" y="121615"/>
                    <a:pt x="924601" y="146064"/>
                    <a:pt x="906575" y="164090"/>
                  </a:cubicBezTo>
                  <a:cubicBezTo>
                    <a:pt x="888548" y="182116"/>
                    <a:pt x="864099" y="192243"/>
                    <a:pt x="838606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57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934728" cy="192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5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040153" y="7890680"/>
            <a:ext cx="571577" cy="571577"/>
            <a:chOff x="0" y="0"/>
            <a:chExt cx="812800" cy="8128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450533" y="9053962"/>
            <a:ext cx="8576422" cy="984401"/>
            <a:chOff x="0" y="0"/>
            <a:chExt cx="934728" cy="192243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934728" cy="192243"/>
            </a:xfrm>
            <a:custGeom>
              <a:avLst/>
              <a:gdLst/>
              <a:ahLst/>
              <a:cxnLst/>
              <a:rect l="l" t="t" r="r" b="b"/>
              <a:pathLst>
                <a:path w="934728" h="192243">
                  <a:moveTo>
                    <a:pt x="96122" y="0"/>
                  </a:moveTo>
                  <a:lnTo>
                    <a:pt x="838606" y="0"/>
                  </a:lnTo>
                  <a:cubicBezTo>
                    <a:pt x="864099" y="0"/>
                    <a:pt x="888548" y="10127"/>
                    <a:pt x="906575" y="28153"/>
                  </a:cubicBezTo>
                  <a:cubicBezTo>
                    <a:pt x="924601" y="46180"/>
                    <a:pt x="934728" y="70629"/>
                    <a:pt x="934728" y="96122"/>
                  </a:cubicBezTo>
                  <a:lnTo>
                    <a:pt x="934728" y="96122"/>
                  </a:lnTo>
                  <a:cubicBezTo>
                    <a:pt x="934728" y="121615"/>
                    <a:pt x="924601" y="146064"/>
                    <a:pt x="906575" y="164090"/>
                  </a:cubicBezTo>
                  <a:cubicBezTo>
                    <a:pt x="888548" y="182116"/>
                    <a:pt x="864099" y="192243"/>
                    <a:pt x="838606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CD78C7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934728" cy="192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5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3881358" y="9258505"/>
            <a:ext cx="571577" cy="571577"/>
            <a:chOff x="0" y="0"/>
            <a:chExt cx="812800" cy="8128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3622711" y="6422628"/>
            <a:ext cx="4786368" cy="984401"/>
            <a:chOff x="0" y="0"/>
            <a:chExt cx="934728" cy="192243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934728" cy="192243"/>
            </a:xfrm>
            <a:custGeom>
              <a:avLst/>
              <a:gdLst/>
              <a:ahLst/>
              <a:cxnLst/>
              <a:rect l="l" t="t" r="r" b="b"/>
              <a:pathLst>
                <a:path w="934728" h="192243">
                  <a:moveTo>
                    <a:pt x="96122" y="0"/>
                  </a:moveTo>
                  <a:lnTo>
                    <a:pt x="838606" y="0"/>
                  </a:lnTo>
                  <a:cubicBezTo>
                    <a:pt x="864099" y="0"/>
                    <a:pt x="888548" y="10127"/>
                    <a:pt x="906575" y="28153"/>
                  </a:cubicBezTo>
                  <a:cubicBezTo>
                    <a:pt x="924601" y="46180"/>
                    <a:pt x="934728" y="70629"/>
                    <a:pt x="934728" y="96122"/>
                  </a:cubicBezTo>
                  <a:lnTo>
                    <a:pt x="934728" y="96122"/>
                  </a:lnTo>
                  <a:cubicBezTo>
                    <a:pt x="934728" y="121615"/>
                    <a:pt x="924601" y="146064"/>
                    <a:pt x="906575" y="164090"/>
                  </a:cubicBezTo>
                  <a:cubicBezTo>
                    <a:pt x="888548" y="182116"/>
                    <a:pt x="864099" y="192243"/>
                    <a:pt x="838606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717EF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0"/>
              <a:ext cx="934728" cy="192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5"/>
                </a:lnSpc>
              </a:pPr>
              <a:endParaRPr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7537414" y="6629040"/>
            <a:ext cx="571577" cy="571577"/>
            <a:chOff x="0" y="0"/>
            <a:chExt cx="812800" cy="8128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5257205" y="1971556"/>
            <a:ext cx="1523090" cy="212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5"/>
              </a:lnSpc>
            </a:pPr>
            <a:r>
              <a:rPr lang="en-US" sz="1515" spc="-37" dirty="0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COMPLETE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832923" y="3242380"/>
            <a:ext cx="1523090" cy="212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5"/>
              </a:lnSpc>
            </a:pPr>
            <a:r>
              <a:rPr lang="en-US" sz="1515" spc="-37" dirty="0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COMPLETE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222857" y="1577967"/>
            <a:ext cx="2920917" cy="30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spcBef>
                <a:spcPct val="0"/>
              </a:spcBef>
            </a:pPr>
            <a:r>
              <a:rPr lang="pt-BR" altLang="en-US" sz="2275" spc="-56" dirty="0">
                <a:solidFill>
                  <a:srgbClr val="231F20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MATEUS COELHO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4805092" y="2832640"/>
            <a:ext cx="3431796" cy="3112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spcBef>
                <a:spcPct val="0"/>
              </a:spcBef>
            </a:pPr>
            <a:r>
              <a:rPr lang="pt-BR" altLang="en-US" sz="2275" spc="-56" dirty="0">
                <a:solidFill>
                  <a:srgbClr val="231F20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ANDRESA CRISTINA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784877" y="1802139"/>
            <a:ext cx="774484" cy="212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5"/>
              </a:lnSpc>
              <a:spcBef>
                <a:spcPct val="0"/>
              </a:spcBef>
            </a:pPr>
            <a:r>
              <a:rPr lang="en-US" sz="1515" spc="-37" dirty="0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100%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9077368" y="600857"/>
            <a:ext cx="687855" cy="24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0"/>
              </a:lnSpc>
              <a:spcBef>
                <a:spcPct val="0"/>
              </a:spcBef>
            </a:pPr>
            <a:r>
              <a:rPr lang="en-US" sz="1705" spc="-42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SET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9164140" y="200488"/>
            <a:ext cx="514312" cy="41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5"/>
              </a:lnSpc>
              <a:spcBef>
                <a:spcPct val="0"/>
              </a:spcBef>
            </a:pPr>
            <a:r>
              <a:rPr lang="en-US" sz="2845" spc="-71">
                <a:solidFill>
                  <a:srgbClr val="231F20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30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2641036" y="600857"/>
            <a:ext cx="687855" cy="24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0"/>
              </a:lnSpc>
              <a:spcBef>
                <a:spcPct val="0"/>
              </a:spcBef>
            </a:pPr>
            <a:r>
              <a:rPr lang="en-US" sz="1705" spc="-42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OUT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2727808" y="200488"/>
            <a:ext cx="514312" cy="41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5"/>
              </a:lnSpc>
              <a:spcBef>
                <a:spcPct val="0"/>
              </a:spcBef>
            </a:pPr>
            <a:r>
              <a:rPr lang="en-US" sz="2845" spc="-71">
                <a:solidFill>
                  <a:srgbClr val="231F20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30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722861" y="600857"/>
            <a:ext cx="687855" cy="24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0"/>
              </a:lnSpc>
              <a:spcBef>
                <a:spcPct val="0"/>
              </a:spcBef>
            </a:pPr>
            <a:r>
              <a:rPr lang="en-US" sz="1705" spc="-42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AGO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809632" y="200488"/>
            <a:ext cx="514312" cy="41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5"/>
              </a:lnSpc>
              <a:spcBef>
                <a:spcPct val="0"/>
              </a:spcBef>
            </a:pPr>
            <a:r>
              <a:rPr lang="en-US" sz="2845" spc="-71">
                <a:solidFill>
                  <a:srgbClr val="231F20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01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358361" y="600857"/>
            <a:ext cx="1523090" cy="24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0"/>
              </a:lnSpc>
            </a:pPr>
            <a:r>
              <a:rPr lang="en-US" sz="1705" spc="-42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STATUS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358361" y="210013"/>
            <a:ext cx="2823735" cy="372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2545" spc="-63">
                <a:solidFill>
                  <a:srgbClr val="231F20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CRONOGRAMA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552949" y="1773453"/>
            <a:ext cx="2088951" cy="25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0"/>
              </a:lnSpc>
              <a:spcBef>
                <a:spcPct val="0"/>
              </a:spcBef>
            </a:pPr>
            <a:r>
              <a:rPr lang="en-US" sz="1675" spc="-41">
                <a:solidFill>
                  <a:srgbClr val="51CFBD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DOCUMENTAÇÀO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52949" y="3036197"/>
            <a:ext cx="2088951" cy="32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spcBef>
                <a:spcPct val="0"/>
              </a:spcBef>
            </a:pPr>
            <a:r>
              <a:rPr lang="en-US" sz="2275" spc="-56">
                <a:solidFill>
                  <a:srgbClr val="FF7685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PERSONA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52949" y="4365693"/>
            <a:ext cx="2088951" cy="32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spcBef>
                <a:spcPct val="0"/>
              </a:spcBef>
            </a:pPr>
            <a:r>
              <a:rPr lang="en-US" sz="2275" spc="-56">
                <a:solidFill>
                  <a:srgbClr val="46C0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TRELLO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534884" y="5496625"/>
            <a:ext cx="2088951" cy="32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spcBef>
                <a:spcPct val="0"/>
              </a:spcBef>
            </a:pPr>
            <a:r>
              <a:rPr lang="en-US" sz="2275" spc="-56">
                <a:solidFill>
                  <a:srgbClr val="FFBC55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BANNER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534884" y="6834193"/>
            <a:ext cx="3286417" cy="32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spcBef>
                <a:spcPct val="0"/>
              </a:spcBef>
            </a:pPr>
            <a:r>
              <a:rPr lang="en-US" sz="2275" spc="-56">
                <a:solidFill>
                  <a:srgbClr val="717EF2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PROJETO MVP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552949" y="8143731"/>
            <a:ext cx="2088951" cy="32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spcBef>
                <a:spcPct val="0"/>
              </a:spcBef>
            </a:pPr>
            <a:r>
              <a:rPr lang="en-US" sz="2275" spc="-56">
                <a:solidFill>
                  <a:srgbClr val="CFC658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ARTIGO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552949" y="9360742"/>
            <a:ext cx="2088951" cy="32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spcBef>
                <a:spcPct val="0"/>
              </a:spcBef>
            </a:pPr>
            <a:r>
              <a:rPr lang="en-US" sz="2275" spc="-56">
                <a:solidFill>
                  <a:srgbClr val="CD78C7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TRILHAS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160225" y="4548140"/>
            <a:ext cx="1523090" cy="212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5"/>
              </a:lnSpc>
            </a:pPr>
            <a:r>
              <a:rPr lang="en-US" sz="1515" spc="-37" dirty="0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ACTIVE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151076" y="4147976"/>
            <a:ext cx="2088951" cy="30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spcBef>
                <a:spcPct val="0"/>
              </a:spcBef>
            </a:pPr>
            <a:r>
              <a:rPr lang="pt-BR" altLang="en-US" sz="2275" spc="-56" dirty="0">
                <a:solidFill>
                  <a:srgbClr val="231F20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PEDRO JORGE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724273" y="5723013"/>
            <a:ext cx="1783481" cy="212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5"/>
              </a:lnSpc>
            </a:pPr>
            <a:r>
              <a:rPr lang="en-US" sz="1515" spc="-37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NOT STARTED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707464" y="5390873"/>
            <a:ext cx="278846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90"/>
              </a:lnSpc>
              <a:spcBef>
                <a:spcPct val="0"/>
              </a:spcBef>
            </a:pPr>
            <a:r>
              <a:rPr lang="en-US" sz="2250" spc="-56" dirty="0">
                <a:solidFill>
                  <a:srgbClr val="231F20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</a:rPr>
              <a:t>ALEX CAMARGO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5684527" y="8200760"/>
            <a:ext cx="1874979" cy="20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5"/>
              </a:lnSpc>
            </a:pPr>
            <a:r>
              <a:rPr lang="pt-BR" altLang="en-US" sz="1515" spc="-37" dirty="0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COMPLETO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5685664" y="7846106"/>
            <a:ext cx="3213735" cy="30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spcBef>
                <a:spcPct val="0"/>
              </a:spcBef>
            </a:pPr>
            <a:r>
              <a:rPr lang="pt-BR" altLang="en-US" sz="2275" spc="-56" dirty="0">
                <a:solidFill>
                  <a:srgbClr val="231F20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ANDRESA CRISTINA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6720601" y="9567934"/>
            <a:ext cx="1523090" cy="212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5"/>
              </a:lnSpc>
            </a:pPr>
            <a:r>
              <a:rPr lang="en-US" sz="1515" spc="-37" dirty="0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ACTIVE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692348" y="9214394"/>
            <a:ext cx="2533101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90"/>
              </a:lnSpc>
              <a:spcBef>
                <a:spcPct val="0"/>
              </a:spcBef>
            </a:pPr>
            <a:r>
              <a:rPr lang="en-US" sz="2250" spc="-56" dirty="0">
                <a:solidFill>
                  <a:srgbClr val="231F20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</a:rPr>
              <a:t>PEDRO JORGE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4713679" y="6962849"/>
            <a:ext cx="1827202" cy="212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5"/>
              </a:lnSpc>
            </a:pPr>
            <a:r>
              <a:rPr lang="en-US" sz="1515" spc="-37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NOT STARTED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4713679" y="6664325"/>
            <a:ext cx="299709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90"/>
              </a:lnSpc>
              <a:spcBef>
                <a:spcPct val="0"/>
              </a:spcBef>
            </a:pPr>
            <a:r>
              <a:rPr lang="en-US" sz="2250" spc="-56" dirty="0">
                <a:solidFill>
                  <a:srgbClr val="231F20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</a:rPr>
              <a:t>BIANCA MARQUES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0862204" y="600857"/>
            <a:ext cx="687855" cy="24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0"/>
              </a:lnSpc>
              <a:spcBef>
                <a:spcPct val="0"/>
              </a:spcBef>
            </a:pPr>
            <a:r>
              <a:rPr lang="en-US" sz="1705" spc="-42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OUT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0948975" y="200488"/>
            <a:ext cx="514312" cy="41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5"/>
              </a:lnSpc>
              <a:spcBef>
                <a:spcPct val="0"/>
              </a:spcBef>
            </a:pPr>
            <a:r>
              <a:rPr lang="en-US" sz="2845" spc="-71">
                <a:solidFill>
                  <a:srgbClr val="231F20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01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4425872" y="600857"/>
            <a:ext cx="687855" cy="24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0"/>
              </a:lnSpc>
              <a:spcBef>
                <a:spcPct val="0"/>
              </a:spcBef>
            </a:pPr>
            <a:r>
              <a:rPr lang="en-US" sz="1705" spc="-42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NOV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4512643" y="200488"/>
            <a:ext cx="514312" cy="41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5"/>
              </a:lnSpc>
              <a:spcBef>
                <a:spcPct val="0"/>
              </a:spcBef>
            </a:pPr>
            <a:r>
              <a:rPr lang="en-US" sz="2845" spc="-71">
                <a:solidFill>
                  <a:srgbClr val="231F20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01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5507697" y="600857"/>
            <a:ext cx="687855" cy="24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0"/>
              </a:lnSpc>
              <a:spcBef>
                <a:spcPct val="0"/>
              </a:spcBef>
            </a:pPr>
            <a:r>
              <a:rPr lang="en-US" sz="1705" spc="-42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AGO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5594468" y="200488"/>
            <a:ext cx="514312" cy="42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5"/>
              </a:lnSpc>
              <a:spcBef>
                <a:spcPct val="0"/>
              </a:spcBef>
            </a:pPr>
            <a:r>
              <a:rPr lang="en-US" sz="2845" spc="-71">
                <a:solidFill>
                  <a:srgbClr val="231F20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30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7292532" y="600857"/>
            <a:ext cx="687855" cy="24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0"/>
              </a:lnSpc>
              <a:spcBef>
                <a:spcPct val="0"/>
              </a:spcBef>
            </a:pPr>
            <a:r>
              <a:rPr lang="en-US" sz="1705" spc="-42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SET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7870134" y="3092309"/>
            <a:ext cx="774484" cy="212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5"/>
              </a:lnSpc>
              <a:spcBef>
                <a:spcPct val="0"/>
              </a:spcBef>
            </a:pPr>
            <a:r>
              <a:rPr lang="en-US" sz="1500" spc="-37" dirty="0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100%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3654511" y="4349081"/>
            <a:ext cx="774484" cy="20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5"/>
              </a:lnSpc>
              <a:spcBef>
                <a:spcPct val="0"/>
              </a:spcBef>
            </a:pPr>
            <a:r>
              <a:rPr lang="pt-BR" altLang="en-US" sz="1515" spc="-37" dirty="0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50%</a:t>
            </a:r>
            <a:endParaRPr lang="en-US" sz="1515" spc="-37" dirty="0">
              <a:solidFill>
                <a:srgbClr val="231F20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</p:txBody>
      </p:sp>
      <p:sp>
        <p:nvSpPr>
          <p:cNvPr id="120" name="TextBox 120"/>
          <p:cNvSpPr txBox="1"/>
          <p:nvPr/>
        </p:nvSpPr>
        <p:spPr>
          <a:xfrm>
            <a:off x="13779905" y="9461929"/>
            <a:ext cx="774484" cy="212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5"/>
              </a:lnSpc>
              <a:spcBef>
                <a:spcPct val="0"/>
              </a:spcBef>
            </a:pPr>
            <a:r>
              <a:rPr lang="en-US" sz="1515" spc="-37" dirty="0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25%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3738159" y="5622589"/>
            <a:ext cx="774484" cy="212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5"/>
              </a:lnSpc>
              <a:spcBef>
                <a:spcPct val="0"/>
              </a:spcBef>
            </a:pPr>
            <a:r>
              <a:rPr lang="en-US" sz="1515" spc="-37" dirty="0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0%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7439791" y="6830501"/>
            <a:ext cx="774484" cy="212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5"/>
              </a:lnSpc>
              <a:spcBef>
                <a:spcPct val="0"/>
              </a:spcBef>
            </a:pPr>
            <a:r>
              <a:rPr lang="en-US" sz="1515" spc="-37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0%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7958899" y="8090537"/>
            <a:ext cx="774484" cy="20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5"/>
              </a:lnSpc>
              <a:spcBef>
                <a:spcPct val="0"/>
              </a:spcBef>
            </a:pPr>
            <a:r>
              <a:rPr lang="pt-BR" altLang="en-US" sz="1515" spc="-37" dirty="0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10</a:t>
            </a:r>
            <a:r>
              <a:rPr lang="en-US" sz="1515" spc="-37" dirty="0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0%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7379304" y="200488"/>
            <a:ext cx="514312" cy="41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5"/>
              </a:lnSpc>
              <a:spcBef>
                <a:spcPct val="0"/>
              </a:spcBef>
            </a:pPr>
            <a:r>
              <a:rPr lang="en-US" sz="2845" spc="-71">
                <a:solidFill>
                  <a:srgbClr val="231F20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01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5879492" y="600857"/>
            <a:ext cx="687855" cy="24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0"/>
              </a:lnSpc>
              <a:spcBef>
                <a:spcPct val="0"/>
              </a:spcBef>
            </a:pPr>
            <a:r>
              <a:rPr lang="en-US" sz="1705" spc="-42">
                <a:solidFill>
                  <a:srgbClr val="231F20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NOV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5966264" y="200488"/>
            <a:ext cx="514312" cy="41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5"/>
              </a:lnSpc>
              <a:spcBef>
                <a:spcPct val="0"/>
              </a:spcBef>
            </a:pPr>
            <a:r>
              <a:rPr lang="en-US" sz="2845" spc="-71">
                <a:solidFill>
                  <a:srgbClr val="231F20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6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45" y="1621790"/>
            <a:ext cx="3550920" cy="4011295"/>
            <a:chOff x="0" y="0"/>
            <a:chExt cx="20632929" cy="221821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32928" cy="22182139"/>
            </a:xfrm>
            <a:custGeom>
              <a:avLst/>
              <a:gdLst/>
              <a:ahLst/>
              <a:cxnLst/>
              <a:rect l="l" t="t" r="r" b="b"/>
              <a:pathLst>
                <a:path w="20632928" h="22182139">
                  <a:moveTo>
                    <a:pt x="77009" y="0"/>
                  </a:moveTo>
                  <a:lnTo>
                    <a:pt x="20555919" y="0"/>
                  </a:lnTo>
                  <a:cubicBezTo>
                    <a:pt x="20598450" y="0"/>
                    <a:pt x="20632928" y="34478"/>
                    <a:pt x="20632928" y="77009"/>
                  </a:cubicBezTo>
                  <a:lnTo>
                    <a:pt x="20632928" y="22105130"/>
                  </a:lnTo>
                  <a:cubicBezTo>
                    <a:pt x="20632928" y="22147661"/>
                    <a:pt x="20598450" y="22182139"/>
                    <a:pt x="20555919" y="22182139"/>
                  </a:cubicBezTo>
                  <a:lnTo>
                    <a:pt x="77009" y="22182139"/>
                  </a:lnTo>
                  <a:cubicBezTo>
                    <a:pt x="34478" y="22182139"/>
                    <a:pt x="0" y="22147661"/>
                    <a:pt x="0" y="22105130"/>
                  </a:cubicBezTo>
                  <a:lnTo>
                    <a:pt x="0" y="77009"/>
                  </a:lnTo>
                  <a:cubicBezTo>
                    <a:pt x="0" y="34478"/>
                    <a:pt x="34478" y="0"/>
                    <a:pt x="7700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17511" y="455311"/>
            <a:ext cx="17470489" cy="979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8560" spc="-565">
                <a:solidFill>
                  <a:srgbClr val="FFFFFF"/>
                </a:solidFill>
                <a:latin typeface="Montserrat Ultra-Bold" panose="00000900000000000000"/>
                <a:ea typeface="Montserrat Ultra-Bold" panose="00000900000000000000"/>
                <a:cs typeface="Montserrat Ultra-Bold" panose="00000900000000000000"/>
                <a:sym typeface="Montserrat Ultra-Bold" panose="00000900000000000000"/>
              </a:rPr>
              <a:t>Distribuição de Papéis no Grupo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7511" y="7280138"/>
            <a:ext cx="4296062" cy="1379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100" spc="-105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Definição clara e detalhada dos papéis dentro do grupo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0073" y="4641440"/>
            <a:ext cx="2945742" cy="904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5"/>
              </a:lnSpc>
            </a:pP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Representa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a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visão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do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produto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,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prioriza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o backlog,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faz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a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ponte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entre a equipe e as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demais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partes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interessadas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e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garante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o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alinhamento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do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projeto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aos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objetivos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definidos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.</a:t>
            </a:r>
            <a:endParaRPr lang="pt-BR" dirty="0"/>
          </a:p>
        </p:txBody>
      </p:sp>
      <p:sp>
        <p:nvSpPr>
          <p:cNvPr id="9" name="TextBox 9"/>
          <p:cNvSpPr txBox="1"/>
          <p:nvPr/>
        </p:nvSpPr>
        <p:spPr>
          <a:xfrm>
            <a:off x="1117694" y="3845230"/>
            <a:ext cx="3000926" cy="271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500" spc="-165" dirty="0">
                <a:solidFill>
                  <a:srgbClr val="1F69F6"/>
                </a:solidFill>
                <a:latin typeface="Montserrat Ultra-Bold" panose="00000900000000000000"/>
                <a:ea typeface="Montserrat Ultra-Bold" panose="00000900000000000000"/>
                <a:cs typeface="Montserrat Ultra-Bold" panose="00000900000000000000"/>
              </a:rPr>
              <a:t>Andresa Campos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578350" y="1621790"/>
            <a:ext cx="3550920" cy="4011295"/>
            <a:chOff x="0" y="0"/>
            <a:chExt cx="20632929" cy="221821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632928" cy="22182139"/>
            </a:xfrm>
            <a:custGeom>
              <a:avLst/>
              <a:gdLst/>
              <a:ahLst/>
              <a:cxnLst/>
              <a:rect l="l" t="t" r="r" b="b"/>
              <a:pathLst>
                <a:path w="20632928" h="22182139">
                  <a:moveTo>
                    <a:pt x="77009" y="0"/>
                  </a:moveTo>
                  <a:lnTo>
                    <a:pt x="20555919" y="0"/>
                  </a:lnTo>
                  <a:cubicBezTo>
                    <a:pt x="20598450" y="0"/>
                    <a:pt x="20632928" y="34478"/>
                    <a:pt x="20632928" y="77009"/>
                  </a:cubicBezTo>
                  <a:lnTo>
                    <a:pt x="20632928" y="22105130"/>
                  </a:lnTo>
                  <a:cubicBezTo>
                    <a:pt x="20632928" y="22147661"/>
                    <a:pt x="20598450" y="22182139"/>
                    <a:pt x="20555919" y="22182139"/>
                  </a:cubicBezTo>
                  <a:lnTo>
                    <a:pt x="77009" y="22182139"/>
                  </a:lnTo>
                  <a:cubicBezTo>
                    <a:pt x="34478" y="22182139"/>
                    <a:pt x="0" y="22147661"/>
                    <a:pt x="0" y="22105130"/>
                  </a:cubicBezTo>
                  <a:lnTo>
                    <a:pt x="0" y="77009"/>
                  </a:lnTo>
                  <a:cubicBezTo>
                    <a:pt x="0" y="34478"/>
                    <a:pt x="34478" y="0"/>
                    <a:pt x="7700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98914" y="4641440"/>
            <a:ext cx="2945742" cy="673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5"/>
              </a:lnSpc>
            </a:pP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Responsável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pela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implementação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das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funcionalidades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do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aplicativo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, tanto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em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frontend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quanto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em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integrações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com o backend.</a:t>
            </a:r>
            <a:endParaRPr lang="pt-BR" dirty="0">
              <a:ea typeface="+mn-lt"/>
              <a:cs typeface="+mn-l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213274" y="3862038"/>
            <a:ext cx="2345383" cy="271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500" spc="-165" dirty="0">
                <a:solidFill>
                  <a:srgbClr val="1F69F6"/>
                </a:solidFill>
                <a:latin typeface="Montserrat Ultra-Bold" panose="00000900000000000000"/>
                <a:ea typeface="Montserrat Ultra-Bold" panose="00000900000000000000"/>
                <a:cs typeface="Montserrat Ultra-Bold" panose="00000900000000000000"/>
              </a:rPr>
              <a:t>Alex Camargo</a:t>
            </a:r>
          </a:p>
        </p:txBody>
      </p:sp>
      <p:sp>
        <p:nvSpPr>
          <p:cNvPr id="16" name="Freeform 16"/>
          <p:cNvSpPr/>
          <p:nvPr/>
        </p:nvSpPr>
        <p:spPr>
          <a:xfrm rot="5400000">
            <a:off x="-801996" y="-1866468"/>
            <a:ext cx="4307057" cy="2357135"/>
          </a:xfrm>
          <a:custGeom>
            <a:avLst/>
            <a:gdLst/>
            <a:ahLst/>
            <a:cxnLst/>
            <a:rect l="l" t="t" r="r" b="b"/>
            <a:pathLst>
              <a:path w="4307057" h="2357135">
                <a:moveTo>
                  <a:pt x="0" y="0"/>
                </a:moveTo>
                <a:lnTo>
                  <a:pt x="4307057" y="0"/>
                </a:lnTo>
                <a:lnTo>
                  <a:pt x="4307057" y="2357135"/>
                </a:lnTo>
                <a:lnTo>
                  <a:pt x="0" y="2357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Freeform 17"/>
          <p:cNvSpPr/>
          <p:nvPr/>
        </p:nvSpPr>
        <p:spPr>
          <a:xfrm rot="5400000">
            <a:off x="1795300" y="8073945"/>
            <a:ext cx="835508" cy="2368709"/>
          </a:xfrm>
          <a:custGeom>
            <a:avLst/>
            <a:gdLst/>
            <a:ahLst/>
            <a:cxnLst/>
            <a:rect l="l" t="t" r="r" b="b"/>
            <a:pathLst>
              <a:path w="835508" h="2368709">
                <a:moveTo>
                  <a:pt x="0" y="0"/>
                </a:moveTo>
                <a:lnTo>
                  <a:pt x="835509" y="0"/>
                </a:lnTo>
                <a:lnTo>
                  <a:pt x="835509" y="2368710"/>
                </a:lnTo>
                <a:lnTo>
                  <a:pt x="0" y="2368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8" name="Freeform 18"/>
          <p:cNvSpPr/>
          <p:nvPr/>
        </p:nvSpPr>
        <p:spPr>
          <a:xfrm rot="5400000">
            <a:off x="14516483" y="10031772"/>
            <a:ext cx="4307057" cy="2357135"/>
          </a:xfrm>
          <a:custGeom>
            <a:avLst/>
            <a:gdLst/>
            <a:ahLst/>
            <a:cxnLst/>
            <a:rect l="l" t="t" r="r" b="b"/>
            <a:pathLst>
              <a:path w="4307057" h="2357135">
                <a:moveTo>
                  <a:pt x="0" y="0"/>
                </a:moveTo>
                <a:lnTo>
                  <a:pt x="4307057" y="0"/>
                </a:lnTo>
                <a:lnTo>
                  <a:pt x="4307057" y="2357135"/>
                </a:lnTo>
                <a:lnTo>
                  <a:pt x="0" y="2357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9" name="Group 19"/>
          <p:cNvGrpSpPr/>
          <p:nvPr/>
        </p:nvGrpSpPr>
        <p:grpSpPr>
          <a:xfrm>
            <a:off x="8375015" y="1622425"/>
            <a:ext cx="3550920" cy="3985895"/>
            <a:chOff x="0" y="0"/>
            <a:chExt cx="20632929" cy="221821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632928" cy="22182139"/>
            </a:xfrm>
            <a:custGeom>
              <a:avLst/>
              <a:gdLst/>
              <a:ahLst/>
              <a:cxnLst/>
              <a:rect l="l" t="t" r="r" b="b"/>
              <a:pathLst>
                <a:path w="20632928" h="22182139">
                  <a:moveTo>
                    <a:pt x="77009" y="0"/>
                  </a:moveTo>
                  <a:lnTo>
                    <a:pt x="20555919" y="0"/>
                  </a:lnTo>
                  <a:cubicBezTo>
                    <a:pt x="20598450" y="0"/>
                    <a:pt x="20632928" y="34478"/>
                    <a:pt x="20632928" y="77009"/>
                  </a:cubicBezTo>
                  <a:lnTo>
                    <a:pt x="20632928" y="22105130"/>
                  </a:lnTo>
                  <a:cubicBezTo>
                    <a:pt x="20632928" y="22147661"/>
                    <a:pt x="20598450" y="22182139"/>
                    <a:pt x="20555919" y="22182139"/>
                  </a:cubicBezTo>
                  <a:lnTo>
                    <a:pt x="77009" y="22182139"/>
                  </a:lnTo>
                  <a:cubicBezTo>
                    <a:pt x="34478" y="22182139"/>
                    <a:pt x="0" y="22147661"/>
                    <a:pt x="0" y="22105130"/>
                  </a:cubicBezTo>
                  <a:lnTo>
                    <a:pt x="0" y="77009"/>
                  </a:lnTo>
                  <a:cubicBezTo>
                    <a:pt x="0" y="34478"/>
                    <a:pt x="34478" y="0"/>
                    <a:pt x="7700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9416264" y="2148060"/>
            <a:ext cx="1468725" cy="1468719"/>
            <a:chOff x="0" y="0"/>
            <a:chExt cx="6350000" cy="63499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717168" y="4619158"/>
            <a:ext cx="2945742" cy="903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5"/>
              </a:lnSpc>
            </a:pP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Atua no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desenvolvimento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das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telas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e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na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experiência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do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usuário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(UX/UI),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garantindo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usabilidade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e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identidade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visual da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solução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.</a:t>
            </a:r>
            <a:endParaRPr lang="pt-BR" dirty="0">
              <a:ea typeface="+mn-lt"/>
              <a:cs typeface="+mn-lt"/>
            </a:endParaRPr>
          </a:p>
          <a:p>
            <a:pPr algn="ctr">
              <a:lnSpc>
                <a:spcPts val="1775"/>
              </a:lnSpc>
            </a:pPr>
            <a:endParaRPr lang="en-US" sz="1190" spc="-40">
              <a:solidFill>
                <a:srgbClr val="1F69F6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692184" y="3904436"/>
            <a:ext cx="2900074" cy="271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500" spc="-165" dirty="0">
                <a:solidFill>
                  <a:srgbClr val="1F69F6"/>
                </a:solidFill>
                <a:latin typeface="Montserrat Ultra-Bold" panose="00000900000000000000"/>
              </a:rPr>
              <a:t>Bianca Marques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769044" y="6060479"/>
            <a:ext cx="3550865" cy="3817479"/>
            <a:chOff x="0" y="0"/>
            <a:chExt cx="20632929" cy="2218213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0632928" cy="22182139"/>
            </a:xfrm>
            <a:custGeom>
              <a:avLst/>
              <a:gdLst/>
              <a:ahLst/>
              <a:cxnLst/>
              <a:rect l="l" t="t" r="r" b="b"/>
              <a:pathLst>
                <a:path w="20632928" h="22182139">
                  <a:moveTo>
                    <a:pt x="77009" y="0"/>
                  </a:moveTo>
                  <a:lnTo>
                    <a:pt x="20555919" y="0"/>
                  </a:lnTo>
                  <a:cubicBezTo>
                    <a:pt x="20598450" y="0"/>
                    <a:pt x="20632928" y="34478"/>
                    <a:pt x="20632928" y="77009"/>
                  </a:cubicBezTo>
                  <a:lnTo>
                    <a:pt x="20632928" y="22105130"/>
                  </a:lnTo>
                  <a:cubicBezTo>
                    <a:pt x="20632928" y="22147661"/>
                    <a:pt x="20598450" y="22182139"/>
                    <a:pt x="20555919" y="22182139"/>
                  </a:cubicBezTo>
                  <a:lnTo>
                    <a:pt x="77009" y="22182139"/>
                  </a:lnTo>
                  <a:cubicBezTo>
                    <a:pt x="34478" y="22182139"/>
                    <a:pt x="0" y="22147661"/>
                    <a:pt x="0" y="22105130"/>
                  </a:cubicBezTo>
                  <a:lnTo>
                    <a:pt x="0" y="77009"/>
                  </a:lnTo>
                  <a:cubicBezTo>
                    <a:pt x="0" y="34478"/>
                    <a:pt x="34478" y="0"/>
                    <a:pt x="7700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071605" y="8894699"/>
            <a:ext cx="2945742" cy="673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5"/>
              </a:lnSpc>
            </a:pP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Participa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da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implementação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de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funcionalidades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e é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responsável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pelos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testes de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qualidade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,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identificando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falhas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 antes da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entrega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  <a:sym typeface="Montserrat" panose="00000500000000000000"/>
              </a:rPr>
              <a:t>.</a:t>
            </a:r>
            <a:endParaRPr lang="pt-BR" dirty="0">
              <a:ea typeface="+mn-lt"/>
              <a:cs typeface="+mn-l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371785" y="8258145"/>
            <a:ext cx="2345383" cy="271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500" spc="-165" dirty="0">
                <a:solidFill>
                  <a:srgbClr val="1F69F6"/>
                </a:solidFill>
                <a:latin typeface="Montserrat Ultra-Bold" panose="00000900000000000000"/>
                <a:ea typeface="Montserrat Ultra-Bold" panose="00000900000000000000"/>
                <a:cs typeface="Montserrat Ultra-Bold" panose="00000900000000000000"/>
              </a:rPr>
              <a:t>Pedro Jorge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546408" y="6060479"/>
            <a:ext cx="3550865" cy="3817479"/>
            <a:chOff x="0" y="0"/>
            <a:chExt cx="20632929" cy="2218213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632928" cy="22182139"/>
            </a:xfrm>
            <a:custGeom>
              <a:avLst/>
              <a:gdLst/>
              <a:ahLst/>
              <a:cxnLst/>
              <a:rect l="l" t="t" r="r" b="b"/>
              <a:pathLst>
                <a:path w="20632928" h="22182139">
                  <a:moveTo>
                    <a:pt x="77009" y="0"/>
                  </a:moveTo>
                  <a:lnTo>
                    <a:pt x="20555919" y="0"/>
                  </a:lnTo>
                  <a:cubicBezTo>
                    <a:pt x="20598450" y="0"/>
                    <a:pt x="20632928" y="34478"/>
                    <a:pt x="20632928" y="77009"/>
                  </a:cubicBezTo>
                  <a:lnTo>
                    <a:pt x="20632928" y="22105130"/>
                  </a:lnTo>
                  <a:cubicBezTo>
                    <a:pt x="20632928" y="22147661"/>
                    <a:pt x="20598450" y="22182139"/>
                    <a:pt x="20555919" y="22182139"/>
                  </a:cubicBezTo>
                  <a:lnTo>
                    <a:pt x="77009" y="22182139"/>
                  </a:lnTo>
                  <a:cubicBezTo>
                    <a:pt x="34478" y="22182139"/>
                    <a:pt x="0" y="22147661"/>
                    <a:pt x="0" y="22105130"/>
                  </a:cubicBezTo>
                  <a:lnTo>
                    <a:pt x="0" y="77009"/>
                  </a:lnTo>
                  <a:cubicBezTo>
                    <a:pt x="0" y="34478"/>
                    <a:pt x="34478" y="0"/>
                    <a:pt x="7700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850447" y="8894699"/>
            <a:ext cx="2945742" cy="903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5"/>
              </a:lnSpc>
            </a:pP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Responsável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pela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modelagem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,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criação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e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manutenção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do banco de dados,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garantindo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integridade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e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desempenho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no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armazenamento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das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informações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.</a:t>
            </a:r>
            <a:endParaRPr lang="pt-BR" dirty="0">
              <a:ea typeface="+mn-lt"/>
              <a:cs typeface="+mn-lt"/>
            </a:endParaRPr>
          </a:p>
          <a:p>
            <a:pPr algn="ctr">
              <a:lnSpc>
                <a:spcPts val="1775"/>
              </a:lnSpc>
            </a:pPr>
            <a:endParaRPr lang="en-US" sz="1190" spc="-40">
              <a:solidFill>
                <a:srgbClr val="1F69F6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149148" y="8241337"/>
            <a:ext cx="2345383" cy="271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500" spc="-165" dirty="0">
                <a:solidFill>
                  <a:srgbClr val="1F69F6"/>
                </a:solidFill>
                <a:latin typeface="Montserrat Ultra-Bold" panose="00000900000000000000"/>
                <a:ea typeface="Montserrat Ultra-Bold" panose="00000900000000000000"/>
                <a:cs typeface="Montserrat Ultra-Bold" panose="00000900000000000000"/>
              </a:rPr>
              <a:t>Mateus Coelho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3377153" y="6069259"/>
            <a:ext cx="3550865" cy="3817479"/>
            <a:chOff x="0" y="0"/>
            <a:chExt cx="20632929" cy="2218213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0632928" cy="22182139"/>
            </a:xfrm>
            <a:custGeom>
              <a:avLst/>
              <a:gdLst/>
              <a:ahLst/>
              <a:cxnLst/>
              <a:rect l="l" t="t" r="r" b="b"/>
              <a:pathLst>
                <a:path w="20632928" h="22182139">
                  <a:moveTo>
                    <a:pt x="77009" y="0"/>
                  </a:moveTo>
                  <a:lnTo>
                    <a:pt x="20555919" y="0"/>
                  </a:lnTo>
                  <a:cubicBezTo>
                    <a:pt x="20598450" y="0"/>
                    <a:pt x="20632928" y="34478"/>
                    <a:pt x="20632928" y="77009"/>
                  </a:cubicBezTo>
                  <a:lnTo>
                    <a:pt x="20632928" y="22105130"/>
                  </a:lnTo>
                  <a:cubicBezTo>
                    <a:pt x="20632928" y="22147661"/>
                    <a:pt x="20598450" y="22182139"/>
                    <a:pt x="20555919" y="22182139"/>
                  </a:cubicBezTo>
                  <a:lnTo>
                    <a:pt x="77009" y="22182139"/>
                  </a:lnTo>
                  <a:cubicBezTo>
                    <a:pt x="34478" y="22182139"/>
                    <a:pt x="0" y="22147661"/>
                    <a:pt x="0" y="22105130"/>
                  </a:cubicBezTo>
                  <a:lnTo>
                    <a:pt x="0" y="77009"/>
                  </a:lnTo>
                  <a:cubicBezTo>
                    <a:pt x="0" y="34478"/>
                    <a:pt x="34478" y="0"/>
                    <a:pt x="7700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3630672" y="8894699"/>
            <a:ext cx="2945742" cy="673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5"/>
              </a:lnSpc>
            </a:pP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Conduz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as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cerimônias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ágeis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, remove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impedimentos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da equipe e é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responsável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pela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documentação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 do </a:t>
            </a:r>
            <a:r>
              <a:rPr lang="en-US" sz="1150" spc="-40" dirty="0" err="1">
                <a:solidFill>
                  <a:srgbClr val="1F69F6"/>
                </a:solidFill>
                <a:ea typeface="+mn-lt"/>
                <a:cs typeface="+mn-lt"/>
              </a:rPr>
              <a:t>projeto</a:t>
            </a:r>
            <a:r>
              <a:rPr lang="en-US" sz="1150" spc="-40" dirty="0">
                <a:solidFill>
                  <a:srgbClr val="1F69F6"/>
                </a:solidFill>
                <a:ea typeface="+mn-lt"/>
                <a:cs typeface="+mn-lt"/>
              </a:rPr>
              <a:t>.</a:t>
            </a:r>
            <a:endParaRPr lang="pt-BR" dirty="0"/>
          </a:p>
        </p:txBody>
      </p:sp>
      <p:sp>
        <p:nvSpPr>
          <p:cNvPr id="42" name="TextBox 42"/>
          <p:cNvSpPr txBox="1"/>
          <p:nvPr/>
        </p:nvSpPr>
        <p:spPr>
          <a:xfrm>
            <a:off x="13929468" y="8250116"/>
            <a:ext cx="2345383" cy="271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500" spc="-165" dirty="0">
                <a:solidFill>
                  <a:srgbClr val="1F69F6"/>
                </a:solidFill>
                <a:latin typeface="Montserrat Ultra-Bold" panose="00000900000000000000"/>
                <a:ea typeface="Montserrat Ultra-Bold" panose="00000900000000000000"/>
                <a:cs typeface="Montserrat Ultra-Bold" panose="00000900000000000000"/>
              </a:rPr>
              <a:t>Giovanni Lati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17511" y="4277951"/>
            <a:ext cx="3550865" cy="451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5"/>
              </a:lnSpc>
              <a:spcBef>
                <a:spcPct val="0"/>
              </a:spcBef>
            </a:pPr>
            <a:r>
              <a:rPr lang="en-US" sz="1100" spc="-27" dirty="0">
                <a:solidFill>
                  <a:srgbClr val="000000"/>
                </a:solidFill>
                <a:latin typeface="Montserrat" panose="00000500000000000000"/>
              </a:rPr>
              <a:t>CARGO: </a:t>
            </a:r>
            <a:r>
              <a:rPr lang="en-US" sz="1100" spc="-27" dirty="0" err="1">
                <a:solidFill>
                  <a:srgbClr val="000000"/>
                </a:solidFill>
                <a:latin typeface="Montserrat" panose="00000500000000000000"/>
              </a:rPr>
              <a:t>Líder</a:t>
            </a:r>
            <a:r>
              <a:rPr lang="en-US" sz="1100" spc="-27" dirty="0">
                <a:solidFill>
                  <a:srgbClr val="000000"/>
                </a:solidFill>
                <a:latin typeface="Montserrat" panose="00000500000000000000"/>
              </a:rPr>
              <a:t>/Project Owne</a:t>
            </a:r>
            <a:r>
              <a:rPr lang="pt-BR" altLang="en-US" sz="1100" spc="-27" dirty="0">
                <a:solidFill>
                  <a:srgbClr val="000000"/>
                </a:solidFill>
                <a:latin typeface="Montserrat" panose="00000500000000000000"/>
              </a:rPr>
              <a:t>r</a:t>
            </a:r>
            <a:endParaRPr lang="en-US" sz="1100" spc="-27" dirty="0">
              <a:solidFill>
                <a:srgbClr val="000000"/>
              </a:solidFill>
              <a:latin typeface="Montserrat" panose="00000500000000000000"/>
            </a:endParaRPr>
          </a:p>
          <a:p>
            <a:pPr algn="ctr">
              <a:lnSpc>
                <a:spcPts val="1175"/>
              </a:lnSpc>
              <a:spcBef>
                <a:spcPct val="0"/>
              </a:spcBef>
            </a:pPr>
            <a:r>
              <a:rPr lang="pt-BR" altLang="en-US" sz="1100" spc="-27" dirty="0">
                <a:solidFill>
                  <a:srgbClr val="000000"/>
                </a:solidFill>
                <a:latin typeface="Montserrat" panose="00000500000000000000"/>
              </a:rPr>
              <a:t> RA: 251538</a:t>
            </a:r>
            <a:endParaRPr lang="en-US" sz="1100" spc="-27" dirty="0">
              <a:solidFill>
                <a:srgbClr val="000000"/>
              </a:solidFill>
              <a:latin typeface="Montserrat" panose="00000500000000000000"/>
            </a:endParaRPr>
          </a:p>
          <a:p>
            <a:pPr algn="ctr">
              <a:lnSpc>
                <a:spcPts val="1175"/>
              </a:lnSpc>
              <a:spcBef>
                <a:spcPct val="0"/>
              </a:spcBef>
            </a:pPr>
            <a:endParaRPr lang="pt-BR" dirty="0"/>
          </a:p>
        </p:txBody>
      </p:sp>
      <p:sp>
        <p:nvSpPr>
          <p:cNvPr id="44" name="TextBox 44"/>
          <p:cNvSpPr txBox="1"/>
          <p:nvPr/>
        </p:nvSpPr>
        <p:spPr>
          <a:xfrm>
            <a:off x="4628914" y="4210641"/>
            <a:ext cx="3550865" cy="451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5"/>
              </a:lnSpc>
              <a:spcBef>
                <a:spcPct val="0"/>
              </a:spcBef>
            </a:pPr>
            <a:r>
              <a:rPr lang="en-US" sz="1100" spc="-27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CARGO: </a:t>
            </a:r>
            <a:r>
              <a:rPr lang="en-US" sz="1100" spc="-27" dirty="0" err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Desenvolvedo</a:t>
            </a:r>
            <a:r>
              <a:rPr lang="pt-BR" altLang="en-US" sz="1100" spc="-27" dirty="0" err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</a:t>
            </a:r>
          </a:p>
          <a:p>
            <a:pPr algn="ctr">
              <a:lnSpc>
                <a:spcPts val="1175"/>
              </a:lnSpc>
              <a:spcBef>
                <a:spcPct val="0"/>
              </a:spcBef>
            </a:pPr>
            <a:r>
              <a:rPr lang="pt-BR" altLang="en-US" sz="1100" spc="-27" dirty="0" err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RA: 251811</a:t>
            </a:r>
          </a:p>
          <a:p>
            <a:pPr algn="ctr">
              <a:lnSpc>
                <a:spcPts val="1175"/>
              </a:lnSpc>
              <a:spcBef>
                <a:spcPct val="0"/>
              </a:spcBef>
            </a:pPr>
            <a:endParaRPr lang="en-US" sz="1115" spc="-27" dirty="0" err="1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8414606" y="4210716"/>
            <a:ext cx="3550865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5"/>
              </a:lnSpc>
              <a:spcBef>
                <a:spcPct val="0"/>
              </a:spcBef>
            </a:pPr>
            <a:r>
              <a:rPr lang="en-US" sz="1100" spc="-27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CARGO: </a:t>
            </a:r>
            <a:r>
              <a:rPr lang="en-US" sz="1100" spc="-27" dirty="0" err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Desenvolvedora</a:t>
            </a:r>
            <a:r>
              <a:rPr lang="en-US" sz="1100" spc="-27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/Designer</a:t>
            </a:r>
          </a:p>
          <a:p>
            <a:pPr algn="ctr">
              <a:lnSpc>
                <a:spcPts val="1175"/>
              </a:lnSpc>
              <a:spcBef>
                <a:spcPct val="0"/>
              </a:spcBef>
            </a:pPr>
            <a:r>
              <a:rPr lang="pt-BR" altLang="en-US" sz="1115" spc="-27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RA: 258784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769044" y="8522779"/>
            <a:ext cx="3550865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5"/>
              </a:lnSpc>
              <a:spcBef>
                <a:spcPct val="0"/>
              </a:spcBef>
            </a:pPr>
            <a:r>
              <a:rPr lang="en-US" sz="1100" spc="-27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CARGO: </a:t>
            </a:r>
            <a:r>
              <a:rPr lang="en-US" sz="1100" spc="-27" dirty="0" err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Desenvolvedor</a:t>
            </a:r>
            <a:r>
              <a:rPr lang="en-US" sz="1100" spc="-27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/QA</a:t>
            </a:r>
          </a:p>
          <a:p>
            <a:pPr algn="ctr">
              <a:lnSpc>
                <a:spcPts val="1175"/>
              </a:lnSpc>
              <a:spcBef>
                <a:spcPct val="0"/>
              </a:spcBef>
            </a:pPr>
            <a:r>
              <a:rPr lang="pt-BR" altLang="en-US" sz="1100" spc="-27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RA: 250972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669949" y="8522779"/>
            <a:ext cx="3550865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5"/>
              </a:lnSpc>
              <a:spcBef>
                <a:spcPct val="0"/>
              </a:spcBef>
            </a:pPr>
            <a:r>
              <a:rPr lang="en-US" sz="1100" spc="-27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CARGO: Banco de dados</a:t>
            </a:r>
          </a:p>
          <a:p>
            <a:pPr algn="ctr">
              <a:lnSpc>
                <a:spcPts val="1175"/>
              </a:lnSpc>
              <a:spcBef>
                <a:spcPct val="0"/>
              </a:spcBef>
            </a:pPr>
            <a:r>
              <a:rPr lang="pt-BR" altLang="en-US" sz="1100" spc="-27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RA: 250855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220813" y="8587016"/>
            <a:ext cx="3550865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5"/>
              </a:lnSpc>
              <a:spcBef>
                <a:spcPct val="0"/>
              </a:spcBef>
            </a:pPr>
            <a:r>
              <a:rPr lang="en-US" sz="1100" spc="-27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CARGO: Scrum Master/</a:t>
            </a:r>
            <a:r>
              <a:rPr lang="en-US" sz="1100" spc="-27" dirty="0" err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Documentação</a:t>
            </a:r>
          </a:p>
          <a:p>
            <a:pPr algn="ctr">
              <a:lnSpc>
                <a:spcPts val="1175"/>
              </a:lnSpc>
              <a:spcBef>
                <a:spcPct val="0"/>
              </a:spcBef>
            </a:pPr>
            <a:r>
              <a:rPr lang="pt-BR" altLang="en-US" sz="1115" spc="-27" dirty="0" err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RA: 250870</a:t>
            </a:r>
          </a:p>
        </p:txBody>
      </p:sp>
      <p:pic>
        <p:nvPicPr>
          <p:cNvPr id="52" name="Imagem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3186" y="1897555"/>
            <a:ext cx="2283753" cy="1876603"/>
          </a:xfrm>
          <a:prstGeom prst="rect">
            <a:avLst/>
          </a:prstGeom>
        </p:spPr>
      </p:pic>
      <p:pic>
        <p:nvPicPr>
          <p:cNvPr id="53" name="Imagem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84944" y="6231030"/>
            <a:ext cx="2302811" cy="1859058"/>
          </a:xfrm>
          <a:prstGeom prst="rect">
            <a:avLst/>
          </a:prstGeom>
        </p:spPr>
      </p:pic>
      <p:pic>
        <p:nvPicPr>
          <p:cNvPr id="54" name="Imagem 5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1065" y="1815352"/>
            <a:ext cx="2066192" cy="188259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32FE41E-496E-BC0A-9803-927FD22A5D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7534" y="1713660"/>
            <a:ext cx="1706097" cy="1985122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A9048681-0970-2457-0E24-F323FED6C6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9386" y="6185647"/>
            <a:ext cx="1752361" cy="1899397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246D01BB-3B5C-898B-4519-59415A70D6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80264" y="6223749"/>
            <a:ext cx="2280956" cy="18904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m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" y="0"/>
            <a:ext cx="18282583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m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" y="0"/>
            <a:ext cx="18282583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" y="0"/>
            <a:ext cx="18282583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645</Words>
  <Application>Microsoft Office PowerPoint</Application>
  <PresentationFormat>Personalizar</PresentationFormat>
  <Paragraphs>122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3" baseType="lpstr">
      <vt:lpstr>Montserrat Ultra-Bold</vt:lpstr>
      <vt:lpstr>Telegraf Bold</vt:lpstr>
      <vt:lpstr>Calibri</vt:lpstr>
      <vt:lpstr>Arial</vt:lpstr>
      <vt:lpstr>DM Sans</vt:lpstr>
      <vt:lpstr>Montserrat</vt:lpstr>
      <vt:lpstr>DM Sans Bold</vt:lpstr>
      <vt:lpstr>Montserrat Bold</vt:lpstr>
      <vt:lpstr>Telegraf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ENTREGA 1</dc:title>
  <dc:creator>Andresa Campos</dc:creator>
  <cp:lastModifiedBy>Andresa Campos</cp:lastModifiedBy>
  <cp:revision>203</cp:revision>
  <dcterms:created xsi:type="dcterms:W3CDTF">2006-08-16T00:00:00Z</dcterms:created>
  <dcterms:modified xsi:type="dcterms:W3CDTF">2026-09-11T19:40:11Z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1046-12.1.0.28485</vt:lpwstr>
  </property>
  <property fmtid="{D5CDD505-2E9C-101B-9397-08002B2CF9AE}" pid="3" name="ICV">
    <vt:lpwstr>A04D9DCA3BA646BF830BA20B2D1ED89A_13</vt:lpwstr>
  </property>
</Properties>
</file>